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  <p:guideLst>
        <p:guide orient="horz" pos="161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presProps" Target="presProps.xml"  /><Relationship Id="rId16" Type="http://schemas.openxmlformats.org/officeDocument/2006/relationships/viewProps" Target="viewProps.xml"  /><Relationship Id="rId17" Type="http://schemas.openxmlformats.org/officeDocument/2006/relationships/theme" Target="theme/theme1.xml"  /><Relationship Id="rId18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4/10/2026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5.png"  /><Relationship Id="rId4" Type="http://schemas.openxmlformats.org/officeDocument/2006/relationships/image" Target="../media/image6.png"  /><Relationship Id="rId5" Type="http://schemas.openxmlformats.org/officeDocument/2006/relationships/image" Target="../media/image7.png"  /><Relationship Id="rId6" Type="http://schemas.openxmlformats.org/officeDocument/2006/relationships/image" Target="../media/image8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bg>
      <p:bgPr shadeToTitle="0"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/>
          <p:cNvSpPr/>
          <p:nvPr/>
        </p:nvSpPr>
        <p:spPr>
          <a:xfrm>
            <a:off x="0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270721" y="3280410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96328" y="3323844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91805" y="2971800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33488" y="1207008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09509" y="3493008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68896" y="1977617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15784" y="2702052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71816" y="1783080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35313" y="1614371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1805" y="1371600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09509" y="2331720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99248" y="3108960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17609" y="2773145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0721" y="2208789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3017" y="4087368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1544" y="2423160"/>
            <a:ext cx="164592" cy="164592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891b2">
                <a:alpha val="3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1444752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6800" b="1">
                <a:solidFill>
                  <a:schemeClr val="tx1"/>
                </a:solidFill>
              </a:rPr>
              <a:t>SGOP</a:t>
            </a:r>
            <a:endParaRPr lang="en-US" sz="6800">
              <a:solidFill>
                <a:schemeClr val="tx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502920" y="2423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6B6D4"/>
                </a:solidFill>
              </a:rPr>
              <a:t>Smart Grid Optimization Platform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02920" y="297180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400">
                <a:solidFill>
                  <a:schemeClr val="tx1"/>
                </a:solidFill>
                <a:latin typeface="맑은 고딕"/>
                <a:ea typeface="맑은 고딕"/>
              </a:rPr>
              <a:t>웹 기반 한국 송전망 혼잡도 모니터링 및</a:t>
            </a:r>
            <a:endParaRPr lang="en-US" sz="1400">
              <a:solidFill>
                <a:schemeClr val="tx1"/>
              </a:solidFill>
              <a:latin typeface="맑은 고딕"/>
              <a:ea typeface="맑은 고딕"/>
            </a:endParaRPr>
          </a:p>
          <a:p>
            <a:pPr marL="0" lvl="0" indent="0" algn="l">
              <a:buNone/>
              <a:defRPr/>
            </a:pPr>
            <a:r>
              <a:rPr lang="en-US" sz="1400">
                <a:solidFill>
                  <a:schemeClr val="tx1"/>
                </a:solidFill>
                <a:latin typeface="맑은 고딕"/>
                <a:ea typeface="맑은 고딕"/>
              </a:rPr>
              <a:t>신규 송전탑 최적 설치점 제안 시뮬레이터</a:t>
            </a:r>
            <a:endParaRPr lang="en-US" sz="140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2920" y="3794760"/>
            <a:ext cx="4114800" cy="274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200">
                <a:solidFill>
                  <a:schemeClr val="tx1"/>
                </a:solidFill>
                <a:latin typeface="맑은 고딕"/>
                <a:ea typeface="맑은 고딕"/>
              </a:rPr>
              <a:t>권나현  ·  김도림  ·  김동근  ·  박차오름    |    컴퓨터공학과</a:t>
            </a:r>
            <a:r>
              <a:rPr lang="ko-KR" altLang="en-US" sz="1200">
                <a:solidFill>
                  <a:schemeClr val="tx1"/>
                </a:solidFill>
                <a:latin typeface="맑은 고딕"/>
              </a:rPr>
              <a:t>    </a:t>
            </a:r>
            <a:r>
              <a:rPr lang="en-US" altLang="ko-KR" sz="1200">
                <a:solidFill>
                  <a:schemeClr val="tx1"/>
                </a:solidFill>
                <a:latin typeface="맑은 고딕"/>
              </a:rPr>
              <a:t>|</a:t>
            </a:r>
            <a:r>
              <a:rPr lang="ko-KR" altLang="en-US" sz="1200">
                <a:solidFill>
                  <a:schemeClr val="tx1"/>
                </a:solidFill>
                <a:latin typeface="맑은 고딕"/>
              </a:rPr>
              <a:t>    팀 </a:t>
            </a:r>
            <a:r>
              <a:rPr lang="zh-CN" altLang="en-US" sz="1200">
                <a:solidFill>
                  <a:schemeClr val="tx1"/>
                </a:solidFill>
                <a:latin typeface="맑은 고딕"/>
                <a:ea typeface="맑은 고딕"/>
              </a:rPr>
              <a:t>石4</a:t>
            </a:r>
            <a:r>
              <a:rPr lang="ko-KR" altLang="en-US" sz="1200">
                <a:solidFill>
                  <a:schemeClr val="tx1"/>
                </a:solidFill>
                <a:latin typeface="맑은 고딕"/>
              </a:rPr>
              <a:t>  </a:t>
            </a:r>
            <a:endParaRPr lang="ko-KR" altLang="en-US" sz="1200">
              <a:solidFill>
                <a:schemeClr val="tx1"/>
              </a:solidFill>
              <a:latin typeface="맑은 고딕"/>
            </a:endParaRPr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732418" y="1696667"/>
            <a:ext cx="726492" cy="726492"/>
          </a:xfrm>
          <a:prstGeom prst="rect">
            <a:avLst/>
          </a:prstGeom>
        </p:spPr>
      </p:pic>
      <p:cxnSp>
        <p:nvCxnSpPr>
          <p:cNvPr id="29" name="선 28"/>
          <p:cNvCxnSpPr>
            <a:stCxn id="11" idx="3"/>
            <a:endCxn id="16" idx="0"/>
          </p:cNvCxnSpPr>
          <p:nvPr/>
        </p:nvCxnSpPr>
        <p:spPr>
          <a:xfrm rot="5400000">
            <a:off x="6179253" y="1928624"/>
            <a:ext cx="453929" cy="106399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선 29"/>
          <p:cNvCxnSpPr>
            <a:endCxn id="11" idx="6"/>
          </p:cNvCxnSpPr>
          <p:nvPr/>
        </p:nvCxnSpPr>
        <p:spPr>
          <a:xfrm rot="10800000" flipV="1">
            <a:off x="6599905" y="1492898"/>
            <a:ext cx="291901" cy="203768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선 30"/>
          <p:cNvCxnSpPr>
            <a:stCxn id="6" idx="2"/>
          </p:cNvCxnSpPr>
          <p:nvPr/>
        </p:nvCxnSpPr>
        <p:spPr>
          <a:xfrm rot="10800000" flipV="1">
            <a:off x="7056398" y="1289304"/>
            <a:ext cx="277090" cy="164592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선 31"/>
          <p:cNvCxnSpPr>
            <a:stCxn id="10" idx="0"/>
            <a:endCxn id="6" idx="4"/>
          </p:cNvCxnSpPr>
          <p:nvPr/>
        </p:nvCxnSpPr>
        <p:spPr>
          <a:xfrm rot="16200000" flipV="1">
            <a:off x="7379208" y="1408176"/>
            <a:ext cx="411480" cy="338328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선 32"/>
          <p:cNvCxnSpPr>
            <a:stCxn id="8" idx="1"/>
            <a:endCxn id="11" idx="5"/>
          </p:cNvCxnSpPr>
          <p:nvPr/>
        </p:nvCxnSpPr>
        <p:spPr>
          <a:xfrm rot="10800000">
            <a:off x="6575802" y="1754859"/>
            <a:ext cx="617198" cy="246862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선 33"/>
          <p:cNvCxnSpPr>
            <a:stCxn id="8" idx="3"/>
            <a:endCxn id="13" idx="7"/>
          </p:cNvCxnSpPr>
          <p:nvPr/>
        </p:nvCxnSpPr>
        <p:spPr>
          <a:xfrm rot="10800000" flipV="1">
            <a:off x="6949997" y="2118106"/>
            <a:ext cx="243003" cy="237718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선 34"/>
          <p:cNvCxnSpPr>
            <a:stCxn id="10" idx="2"/>
            <a:endCxn id="8" idx="6"/>
          </p:cNvCxnSpPr>
          <p:nvPr/>
        </p:nvCxnSpPr>
        <p:spPr>
          <a:xfrm rot="10800000" flipV="1">
            <a:off x="7333488" y="1865376"/>
            <a:ext cx="338328" cy="194537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선 35"/>
          <p:cNvCxnSpPr>
            <a:stCxn id="15" idx="0"/>
            <a:endCxn id="16" idx="4"/>
          </p:cNvCxnSpPr>
          <p:nvPr/>
        </p:nvCxnSpPr>
        <p:spPr>
          <a:xfrm rot="16200000" flipV="1">
            <a:off x="6276579" y="2449819"/>
            <a:ext cx="399764" cy="246889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선 36"/>
          <p:cNvCxnSpPr/>
          <p:nvPr/>
        </p:nvCxnSpPr>
        <p:spPr>
          <a:xfrm rot="10800000" flipV="1">
            <a:off x="7056398" y="2784348"/>
            <a:ext cx="359386" cy="269748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선 37"/>
          <p:cNvCxnSpPr>
            <a:stCxn id="9" idx="1"/>
          </p:cNvCxnSpPr>
          <p:nvPr/>
        </p:nvCxnSpPr>
        <p:spPr>
          <a:xfrm rot="10800000">
            <a:off x="6891806" y="2496312"/>
            <a:ext cx="548082" cy="229843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선 38"/>
          <p:cNvCxnSpPr>
            <a:stCxn id="18" idx="2"/>
            <a:endCxn id="9" idx="0"/>
          </p:cNvCxnSpPr>
          <p:nvPr/>
        </p:nvCxnSpPr>
        <p:spPr>
          <a:xfrm rot="10800000" flipV="1">
            <a:off x="7498080" y="2505456"/>
            <a:ext cx="283464" cy="196596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선 39"/>
          <p:cNvCxnSpPr>
            <a:endCxn id="8" idx="5"/>
          </p:cNvCxnSpPr>
          <p:nvPr/>
        </p:nvCxnSpPr>
        <p:spPr>
          <a:xfrm rot="10800000">
            <a:off x="7309384" y="2118106"/>
            <a:ext cx="527024" cy="295910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선 40"/>
          <p:cNvCxnSpPr>
            <a:stCxn id="10" idx="4"/>
          </p:cNvCxnSpPr>
          <p:nvPr/>
        </p:nvCxnSpPr>
        <p:spPr>
          <a:xfrm rot="16200000" flipH="1">
            <a:off x="7575804" y="2125980"/>
            <a:ext cx="466344" cy="109728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선 41"/>
          <p:cNvCxnSpPr>
            <a:endCxn id="3" idx="0"/>
          </p:cNvCxnSpPr>
          <p:nvPr/>
        </p:nvCxnSpPr>
        <p:spPr>
          <a:xfrm rot="5400000">
            <a:off x="6305125" y="2985629"/>
            <a:ext cx="342672" cy="246889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선 42"/>
          <p:cNvCxnSpPr>
            <a:stCxn id="3" idx="4"/>
            <a:endCxn id="17" idx="0"/>
          </p:cNvCxnSpPr>
          <p:nvPr/>
        </p:nvCxnSpPr>
        <p:spPr>
          <a:xfrm rot="16200000" flipH="1">
            <a:off x="6072983" y="3725037"/>
            <a:ext cx="642366" cy="82294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선 43"/>
          <p:cNvCxnSpPr>
            <a:stCxn id="7" idx="1"/>
            <a:endCxn id="3" idx="5"/>
          </p:cNvCxnSpPr>
          <p:nvPr/>
        </p:nvCxnSpPr>
        <p:spPr>
          <a:xfrm rot="10800000">
            <a:off x="6411210" y="3420898"/>
            <a:ext cx="422403" cy="96213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선 44"/>
          <p:cNvCxnSpPr>
            <a:stCxn id="4" idx="2"/>
            <a:endCxn id="7" idx="6"/>
          </p:cNvCxnSpPr>
          <p:nvPr/>
        </p:nvCxnSpPr>
        <p:spPr>
          <a:xfrm rot="10800000" flipV="1">
            <a:off x="6974102" y="3406140"/>
            <a:ext cx="222226" cy="169164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선 45"/>
          <p:cNvCxnSpPr>
            <a:stCxn id="14" idx="3"/>
          </p:cNvCxnSpPr>
          <p:nvPr/>
        </p:nvCxnSpPr>
        <p:spPr>
          <a:xfrm rot="10800000" flipV="1">
            <a:off x="7360920" y="3249448"/>
            <a:ext cx="362432" cy="179552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선 46"/>
          <p:cNvCxnSpPr>
            <a:stCxn id="14" idx="0"/>
            <a:endCxn id="18" idx="4"/>
          </p:cNvCxnSpPr>
          <p:nvPr/>
        </p:nvCxnSpPr>
        <p:spPr>
          <a:xfrm rot="5400000" flipH="1" flipV="1">
            <a:off x="7562088" y="2807208"/>
            <a:ext cx="521208" cy="82296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선 47"/>
          <p:cNvCxnSpPr>
            <a:stCxn id="5" idx="4"/>
            <a:endCxn id="7" idx="0"/>
          </p:cNvCxnSpPr>
          <p:nvPr/>
        </p:nvCxnSpPr>
        <p:spPr>
          <a:xfrm rot="5400000">
            <a:off x="6754646" y="3273552"/>
            <a:ext cx="356616" cy="82295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선 48"/>
          <p:cNvCxnSpPr>
            <a:endCxn id="15" idx="7"/>
          </p:cNvCxnSpPr>
          <p:nvPr/>
        </p:nvCxnSpPr>
        <p:spPr>
          <a:xfrm rot="5400000">
            <a:off x="6542187" y="2529927"/>
            <a:ext cx="383233" cy="151410"/>
          </a:xfrm>
          <a:prstGeom prst="line">
            <a:avLst/>
          </a:prstGeom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/>
          <p:cNvSpPr/>
          <p:nvPr/>
        </p:nvSpPr>
        <p:spPr>
          <a:xfrm>
            <a:off x="0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</a:rPr>
              <a:t>문제 정의</a:t>
            </a:r>
            <a:endParaRPr lang="en-US" sz="2600">
              <a:latin typeface="맑은 고딕"/>
              <a:ea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402336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500" b="1">
                <a:solidFill>
                  <a:srgbClr val="92400e"/>
                </a:solidFill>
                <a:latin typeface="맑은 고딕"/>
              </a:rPr>
              <a:t>⚡</a:t>
            </a:r>
            <a:r>
              <a:rPr lang="en-US" sz="1500" b="1">
                <a:solidFill>
                  <a:srgbClr val="92400e"/>
                </a:solidFill>
                <a:latin typeface="맑은 고딕"/>
                <a:ea typeface="맑은 고딕"/>
              </a:rPr>
              <a:t> 한국 송전망 현황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1480" y="1545336"/>
            <a:ext cx="256032" cy="25603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" y="1545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endParaRPr lang="en-US" sz="1100">
              <a:latin typeface="맑은 고딕"/>
              <a:ea typeface="맑은 고딕"/>
            </a:endParaRPr>
          </a:p>
        </p:txBody>
      </p:sp>
      <p:sp>
        <p:nvSpPr>
          <p:cNvPr id="9" name="Text 7"/>
          <p:cNvSpPr/>
          <p:nvPr/>
        </p:nvSpPr>
        <p:spPr>
          <a:xfrm>
            <a:off x="786384" y="153543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1e293b"/>
                </a:solidFill>
                <a:latin typeface="맑은 고딕"/>
                <a:ea typeface="맑은 고딕"/>
              </a:rPr>
              <a:t>수도권 전력 수요 집중</a:t>
            </a:r>
            <a:endParaRPr lang="en-US" sz="1400">
              <a:latin typeface="맑은 고딕"/>
              <a:ea typeface="맑은 고딕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64748b"/>
                </a:solidFill>
                <a:latin typeface="맑은 고딕"/>
                <a:ea typeface="맑은 고딕"/>
              </a:rPr>
              <a:t>발전원은 비수도권에 편중 → 장거리 송전 의존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11480" y="2505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lang="en-US" sz="1100">
              <a:latin typeface="맑은 고딕"/>
              <a:ea typeface="맑은 고딕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7240" y="248793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1e293b"/>
                </a:solidFill>
                <a:latin typeface="맑은 고딕"/>
                <a:ea typeface="맑은 고딕"/>
              </a:rPr>
              <a:t>특정 선로 혼잡 지속</a:t>
            </a:r>
            <a:endParaRPr lang="en-US" sz="1400">
              <a:latin typeface="맑은 고딕"/>
              <a:ea typeface="맑은 고딕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7240" y="2743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64748b"/>
                </a:solidFill>
                <a:latin typeface="맑은 고딕"/>
                <a:ea typeface="맑은 고딕"/>
              </a:rPr>
              <a:t>송전 제약 → 고비용 발전기 추가 가동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1480" y="3465576"/>
            <a:ext cx="256032" cy="25603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11480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lang="en-US" sz="1100">
              <a:latin typeface="맑은 고딕"/>
              <a:ea typeface="맑은 고딕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457575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1e293b"/>
                </a:solidFill>
                <a:latin typeface="맑은 고딕"/>
                <a:ea typeface="맑은 고딕"/>
              </a:rPr>
              <a:t>비효율적 인프라 투자</a:t>
            </a:r>
            <a:endParaRPr lang="en-US" sz="1400">
              <a:latin typeface="맑은 고딕"/>
              <a:ea typeface="맑은 고딕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77240" y="37033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64748b"/>
                </a:solidFill>
                <a:latin typeface="맑은 고딕"/>
                <a:ea typeface="맑은 고딕"/>
              </a:rPr>
              <a:t>계통 운영 비용 증가 · 안정성 저하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846320" y="96012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960120"/>
            <a:ext cx="402336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500"/>
          </a:p>
        </p:txBody>
      </p:sp>
      <p:sp>
        <p:nvSpPr>
          <p:cNvPr id="21" name="Text 19"/>
          <p:cNvSpPr/>
          <p:nvPr/>
        </p:nvSpPr>
        <p:spPr>
          <a:xfrm>
            <a:off x="4956810" y="960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500" b="1">
                <a:solidFill>
                  <a:srgbClr val="991b1b"/>
                </a:solidFill>
                <a:latin typeface="맑은 고딕"/>
                <a:ea typeface="맑은 고딕"/>
              </a:rPr>
              <a:t>🔧 </a:t>
            </a:r>
            <a:r>
              <a:rPr lang="ko-KR" altLang="en-US" sz="1500" b="1">
                <a:solidFill>
                  <a:srgbClr val="991b1b"/>
                </a:solidFill>
                <a:latin typeface="맑은 고딕"/>
                <a:ea typeface="맑은 고딕"/>
              </a:rPr>
              <a:t> </a:t>
            </a:r>
            <a:r>
              <a:rPr lang="en-US" sz="1500" b="1">
                <a:solidFill>
                  <a:srgbClr val="991b1b"/>
                </a:solidFill>
                <a:latin typeface="맑은 고딕"/>
                <a:ea typeface="맑은 고딕"/>
              </a:rPr>
              <a:t>기존 도구의 한계</a:t>
            </a:r>
            <a:endParaRPr lang="en-US" sz="1500" b="1">
              <a:solidFill>
                <a:srgbClr val="991b1b"/>
              </a:solidFill>
              <a:latin typeface="맑은 고딕"/>
              <a:ea typeface="맑은 고딕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303520" y="15087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1e293b"/>
                </a:solidFill>
                <a:latin typeface="맑은 고딕"/>
                <a:ea typeface="맑은 고딕"/>
              </a:rPr>
              <a:t>DIgSILENT / ETAP</a:t>
            </a:r>
            <a:endParaRPr lang="en-US" sz="1400">
              <a:latin typeface="맑은 고딕"/>
              <a:ea typeface="맑은 고딕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303520" y="178308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64748b"/>
                </a:solidFill>
                <a:latin typeface="맑은 고딕"/>
                <a:ea typeface="맑은 고딕"/>
              </a:rPr>
              <a:t>높은 정밀도, 고비용 라이선스</a:t>
            </a:r>
            <a:endParaRPr lang="en-US" sz="105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>
              <a:buNone/>
              <a:defRPr/>
            </a:pPr>
            <a:r>
              <a:rPr lang="en-US" sz="1050">
                <a:solidFill>
                  <a:srgbClr val="64748b"/>
                </a:solidFill>
                <a:latin typeface="맑은 고딕"/>
                <a:ea typeface="맑은 고딕"/>
              </a:rPr>
              <a:t>전문가 전용 · 가파른 학습 곡선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303520" y="24688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1e293b"/>
                </a:solidFill>
                <a:latin typeface="맑은 고딕"/>
                <a:ea typeface="맑은 고딕"/>
              </a:rPr>
              <a:t>pandapower</a:t>
            </a:r>
            <a:endParaRPr lang="en-US" sz="1400">
              <a:latin typeface="맑은 고딕"/>
              <a:ea typeface="맑은 고딕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303520" y="274320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64748b"/>
                </a:solidFill>
                <a:latin typeface="맑은 고딕"/>
                <a:ea typeface="맑은 고딕"/>
              </a:rPr>
              <a:t>계산 유연성 우수</a:t>
            </a:r>
            <a:endParaRPr lang="en-US" sz="105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>
              <a:buNone/>
              <a:defRPr/>
            </a:pPr>
            <a:r>
              <a:rPr lang="en-US" sz="1050">
                <a:solidFill>
                  <a:srgbClr val="64748b"/>
                </a:solidFill>
                <a:latin typeface="맑은 고딕"/>
                <a:ea typeface="맑은 고딕"/>
              </a:rPr>
              <a:t>WebUI · 지도 연동 · AI 설명 없음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303520" y="34290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1e293b"/>
                </a:solidFill>
                <a:latin typeface="맑은 고딕"/>
                <a:ea typeface="맑은 고딕"/>
              </a:rPr>
              <a:t>공통 한계</a:t>
            </a:r>
            <a:endParaRPr lang="en-US" sz="1400">
              <a:latin typeface="맑은 고딕"/>
              <a:ea typeface="맑은 고딕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03520" y="370332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64748b"/>
                </a:solidFill>
                <a:latin typeface="맑은 고딕"/>
                <a:ea typeface="맑은 고딕"/>
              </a:rPr>
              <a:t>상호작용성 부족</a:t>
            </a:r>
            <a:endParaRPr lang="en-US" sz="105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>
              <a:buNone/>
              <a:defRPr/>
            </a:pPr>
            <a:r>
              <a:rPr lang="en-US" sz="1050">
                <a:solidFill>
                  <a:srgbClr val="64748b"/>
                </a:solidFill>
                <a:latin typeface="맑은 고딕"/>
                <a:ea typeface="맑은 고딕"/>
              </a:rPr>
              <a:t>빠른 가설 검증 불가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36" name="Shape 5"/>
          <p:cNvSpPr/>
          <p:nvPr/>
        </p:nvSpPr>
        <p:spPr>
          <a:xfrm>
            <a:off x="4966716" y="1508760"/>
            <a:ext cx="256032" cy="25603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37" name="Text 6"/>
          <p:cNvSpPr/>
          <p:nvPr/>
        </p:nvSpPr>
        <p:spPr>
          <a:xfrm>
            <a:off x="4966716" y="1508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endParaRPr lang="en-US" sz="1100">
              <a:latin typeface="맑은 고딕"/>
              <a:ea typeface="맑은 고딕"/>
            </a:endParaRPr>
          </a:p>
        </p:txBody>
      </p:sp>
      <p:sp>
        <p:nvSpPr>
          <p:cNvPr id="42" name="Shape 5"/>
          <p:cNvSpPr/>
          <p:nvPr/>
        </p:nvSpPr>
        <p:spPr>
          <a:xfrm>
            <a:off x="4966335" y="2496312"/>
            <a:ext cx="256032" cy="25603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43" name="Text 6"/>
          <p:cNvSpPr/>
          <p:nvPr/>
        </p:nvSpPr>
        <p:spPr>
          <a:xfrm>
            <a:off x="4966335" y="2496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altLang="ko-KR" sz="11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lang="en-US" altLang="ko-KR" sz="11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45" name="Shape 5"/>
          <p:cNvSpPr/>
          <p:nvPr/>
        </p:nvSpPr>
        <p:spPr>
          <a:xfrm>
            <a:off x="4966335" y="3436239"/>
            <a:ext cx="256032" cy="25603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46" name="Text 6"/>
          <p:cNvSpPr/>
          <p:nvPr/>
        </p:nvSpPr>
        <p:spPr>
          <a:xfrm>
            <a:off x="4966335" y="34362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altLang="ko-KR" sz="11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lang="en-US" altLang="ko-KR" sz="11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0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2213A"/>
          </a:solidFill>
          <a:ln w="12700">
            <a:solidFill>
              <a:srgbClr val="122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</a:rPr>
              <a:t>SGOP 솔루션 개요</a:t>
            </a:r>
            <a:endParaRPr lang="en-US" sz="2600">
              <a:latin typeface="맑은 고딕"/>
              <a:ea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399"/>
            <a:ext cx="8595360" cy="816117"/>
          </a:xfrm>
          <a:prstGeom prst="rect">
            <a:avLst/>
          </a:prstGeom>
          <a:solidFill>
            <a:srgbClr val="243b55"/>
          </a:solidFill>
          <a:ln w="19050">
            <a:solidFill>
              <a:srgbClr val="243b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500">
                <a:solidFill>
                  <a:schemeClr val="lt1"/>
                </a:solidFill>
                <a:latin typeface="맑은 고딕"/>
                <a:ea typeface="맑은 고딕"/>
              </a:rPr>
              <a:t>SGOP는 정밀 계통해석 도구의 대체재가 </a:t>
            </a:r>
            <a:r>
              <a:rPr lang="ko-KR" altLang="en-US" sz="1500">
                <a:solidFill>
                  <a:schemeClr val="lt1"/>
                </a:solidFill>
                <a:latin typeface="맑은 고딕"/>
              </a:rPr>
              <a:t>아닌</a:t>
            </a:r>
            <a:r>
              <a:rPr lang="en-US" altLang="ko-KR" sz="1500">
                <a:solidFill>
                  <a:schemeClr val="lt1"/>
                </a:solidFill>
                <a:latin typeface="맑은 고딕"/>
              </a:rPr>
              <a:t>,</a:t>
            </a:r>
            <a:endParaRPr lang="en-US" altLang="ko-KR" sz="1500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500" b="1">
                <a:solidFill>
                  <a:schemeClr val="lt1"/>
                </a:solidFill>
                <a:latin typeface="맑은 고딕"/>
                <a:ea typeface="맑은 고딕"/>
              </a:rPr>
              <a:t>웹 기반 상호작용성과 설명 가능성을 강조한 "의사결정 지원형 시뮬레이터"입니다.</a:t>
            </a:r>
            <a:endParaRPr lang="en-US" sz="1500">
              <a:solidFill>
                <a:schemeClr val="lt1"/>
              </a:solidFill>
              <a:latin typeface="맑은 고딕"/>
              <a:ea typeface="맑은 고딕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4320" y="1993330"/>
            <a:ext cx="2743200" cy="2761550"/>
          </a:xfrm>
          <a:prstGeom prst="rect">
            <a:avLst/>
          </a:prstGeom>
          <a:solidFill>
            <a:schemeClr val="lt1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979676"/>
            <a:ext cx="274320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233172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74320" y="30632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chemeClr val="dk1"/>
                </a:solidFill>
                <a:latin typeface="맑은 고딕"/>
                <a:ea typeface="맑은 고딕"/>
              </a:rPr>
              <a:t>지도 기반</a:t>
            </a:r>
            <a:endParaRPr lang="en-US" sz="1500" b="1">
              <a:solidFill>
                <a:schemeClr val="dk1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500" b="1">
                <a:solidFill>
                  <a:schemeClr val="dk1"/>
                </a:solidFill>
                <a:latin typeface="맑은 고딕"/>
                <a:ea typeface="맑은 고딕"/>
              </a:rPr>
              <a:t>시각화</a:t>
            </a:r>
            <a:endParaRPr lang="en-US" sz="1500">
              <a:solidFill>
                <a:schemeClr val="dk1"/>
              </a:solidFill>
              <a:latin typeface="맑은 고딕"/>
              <a:ea typeface="맑은 고딕"/>
            </a:endParaRPr>
          </a:p>
        </p:txBody>
      </p:sp>
      <p:sp>
        <p:nvSpPr>
          <p:cNvPr id="11" name="Text 8"/>
          <p:cNvSpPr/>
          <p:nvPr/>
        </p:nvSpPr>
        <p:spPr>
          <a:xfrm>
            <a:off x="274320" y="37033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chemeClr val="dk1"/>
                </a:solidFill>
                <a:latin typeface="맑은 고딕"/>
                <a:ea typeface="맑은 고딕"/>
              </a:rPr>
              <a:t>브이월드 API 연동</a:t>
            </a:r>
            <a:endParaRPr lang="en-US" sz="1200">
              <a:solidFill>
                <a:schemeClr val="dk1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chemeClr val="dk1"/>
                </a:solidFill>
                <a:latin typeface="맑은 고딕"/>
                <a:ea typeface="맑은 고딕"/>
              </a:rPr>
              <a:t>혼잡도 직관적 파악</a:t>
            </a:r>
            <a:endParaRPr lang="en-US" sz="1200">
              <a:solidFill>
                <a:schemeClr val="dk1"/>
              </a:solidFill>
              <a:latin typeface="맑은 고딕"/>
              <a:ea typeface="맑은 고딕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154680" y="1993330"/>
            <a:ext cx="2743200" cy="2761550"/>
          </a:xfrm>
          <a:prstGeom prst="rect">
            <a:avLst/>
          </a:prstGeom>
          <a:solidFill>
            <a:schemeClr val="lt1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154680" y="1979676"/>
            <a:ext cx="2743200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2331720"/>
            <a:ext cx="640080" cy="6400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154680" y="30632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chemeClr val="dk1"/>
                </a:solidFill>
                <a:latin typeface="맑은 고딕"/>
                <a:ea typeface="맑은 고딕"/>
              </a:rPr>
              <a:t>인터랙티브</a:t>
            </a:r>
            <a:endParaRPr lang="en-US" sz="1500" b="1">
              <a:solidFill>
                <a:schemeClr val="dk1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500" b="1">
                <a:solidFill>
                  <a:schemeClr val="dk1"/>
                </a:solidFill>
                <a:latin typeface="맑은 고딕"/>
                <a:ea typeface="맑은 고딕"/>
              </a:rPr>
              <a:t>시뮬레이션</a:t>
            </a:r>
            <a:endParaRPr lang="en-US" sz="1500">
              <a:solidFill>
                <a:schemeClr val="dk1"/>
              </a:solidFill>
              <a:latin typeface="맑은 고딕"/>
              <a:ea typeface="맑은 고딕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3154680" y="37033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chemeClr val="dk1"/>
                </a:solidFill>
                <a:latin typeface="맑은 고딕"/>
                <a:ea typeface="맑은 고딕"/>
              </a:rPr>
              <a:t>클릭으로 가설 설정</a:t>
            </a:r>
            <a:endParaRPr lang="en-US" sz="1200">
              <a:solidFill>
                <a:schemeClr val="dk1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chemeClr val="dk1"/>
                </a:solidFill>
                <a:latin typeface="맑은 고딕"/>
                <a:ea typeface="맑은 고딕"/>
              </a:rPr>
              <a:t>즉시 결과 비교</a:t>
            </a:r>
            <a:endParaRPr lang="en-US" sz="1200">
              <a:solidFill>
                <a:schemeClr val="dk1"/>
              </a:solidFill>
              <a:latin typeface="맑은 고딕"/>
              <a:ea typeface="맑은 고딕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035040" y="1993330"/>
            <a:ext cx="2743200" cy="2761550"/>
          </a:xfrm>
          <a:prstGeom prst="rect">
            <a:avLst/>
          </a:prstGeom>
          <a:solidFill>
            <a:schemeClr val="lt1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035040" y="1979676"/>
            <a:ext cx="274320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2331720"/>
            <a:ext cx="640080" cy="6400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035040" y="30632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chemeClr val="dk1"/>
                </a:solidFill>
                <a:latin typeface="맑은 고딕"/>
                <a:ea typeface="맑은 고딕"/>
              </a:rPr>
              <a:t>AI 보조</a:t>
            </a:r>
            <a:endParaRPr lang="en-US" sz="1500" b="1">
              <a:solidFill>
                <a:schemeClr val="dk1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500" b="1">
                <a:solidFill>
                  <a:schemeClr val="dk1"/>
                </a:solidFill>
                <a:latin typeface="맑은 고딕"/>
                <a:ea typeface="맑은 고딕"/>
              </a:rPr>
              <a:t>의사결정</a:t>
            </a:r>
            <a:endParaRPr lang="en-US" sz="1500">
              <a:solidFill>
                <a:schemeClr val="dk1"/>
              </a:solidFill>
              <a:latin typeface="맑은 고딕"/>
              <a:ea typeface="맑은 고딕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6035040" y="37033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chemeClr val="dk1"/>
                </a:solidFill>
                <a:latin typeface="맑은 고딕"/>
                <a:ea typeface="맑은 고딕"/>
              </a:rPr>
              <a:t>추천 · 예측 · 설명</a:t>
            </a:r>
            <a:endParaRPr lang="en-US" sz="1200">
              <a:solidFill>
                <a:schemeClr val="dk1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chemeClr val="dk1"/>
                </a:solidFill>
                <a:latin typeface="맑은 고딕"/>
                <a:ea typeface="맑은 고딕"/>
              </a:rPr>
              <a:t>통합 서비스</a:t>
            </a:r>
            <a:endParaRPr lang="en-US" sz="1200">
              <a:solidFill>
                <a:schemeClr val="dk1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/>
          <p:cNvSpPr/>
          <p:nvPr/>
        </p:nvSpPr>
        <p:spPr>
          <a:xfrm>
            <a:off x="0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600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</a:rPr>
              <a:t>핵심 기능</a:t>
            </a:r>
            <a:endParaRPr lang="en-US" sz="2600">
              <a:latin typeface="맑은 고딕"/>
              <a:ea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45301" y="894961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5301" y="894961"/>
            <a:ext cx="2011680" cy="365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000"/>
          </a:p>
        </p:txBody>
      </p:sp>
      <p:sp>
        <p:nvSpPr>
          <p:cNvPr id="6" name="Text 4"/>
          <p:cNvSpPr/>
          <p:nvPr/>
        </p:nvSpPr>
        <p:spPr>
          <a:xfrm>
            <a:off x="845301" y="894961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</a:rPr>
              <a:t>01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845301" y="1306441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실시간 송전망</a:t>
            </a:r>
            <a:endParaRPr lang="en-US" sz="1500" b="1">
              <a:solidFill>
                <a:srgbClr val="1e293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모니터링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8" name="Text 6"/>
          <p:cNvSpPr/>
          <p:nvPr/>
        </p:nvSpPr>
        <p:spPr>
          <a:xfrm>
            <a:off x="845301" y="1992241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선로 이용률 기반</a:t>
            </a:r>
            <a:endParaRPr 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동적 색상 시각화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039861" y="894961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39861" y="894961"/>
            <a:ext cx="2011680" cy="3657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000"/>
          </a:p>
        </p:txBody>
      </p:sp>
      <p:sp>
        <p:nvSpPr>
          <p:cNvPr id="11" name="Text 9"/>
          <p:cNvSpPr/>
          <p:nvPr/>
        </p:nvSpPr>
        <p:spPr>
          <a:xfrm>
            <a:off x="3039861" y="894961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</a:rPr>
              <a:t>02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3039861" y="1306441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신규 송전탑</a:t>
            </a:r>
            <a:endParaRPr lang="en-US" sz="1500" b="1">
              <a:solidFill>
                <a:srgbClr val="1e293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설치 시뮬레이션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039861" y="1992241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지도 클릭으로</a:t>
            </a:r>
            <a:endParaRPr 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가상 배치 즉시 반영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234421" y="894961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34421" y="894961"/>
            <a:ext cx="201168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000"/>
          </a:p>
        </p:txBody>
      </p:sp>
      <p:sp>
        <p:nvSpPr>
          <p:cNvPr id="16" name="Text 14"/>
          <p:cNvSpPr/>
          <p:nvPr/>
        </p:nvSpPr>
        <p:spPr>
          <a:xfrm>
            <a:off x="5234421" y="894961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</a:rPr>
              <a:t>03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5234421" y="1306441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AI 파라미터</a:t>
            </a:r>
            <a:endParaRPr lang="en-US" sz="1500" b="1">
              <a:solidFill>
                <a:srgbClr val="1e293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추천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234421" y="1992241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전압·용량·리액턴스</a:t>
            </a:r>
            <a:endParaRPr 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초기값 자동 제안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942581" y="2723761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942581" y="2723761"/>
            <a:ext cx="2011680" cy="365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200">
              <a:latin typeface="맑은 고딕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942581" y="2723761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b="1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r>
              <a:rPr lang="en-US" altLang="ko-KR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lang="en-US" altLang="ko-KR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42581" y="3135241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xAI 설명</a:t>
            </a:r>
            <a:endParaRPr lang="en-US" sz="1500" b="1">
              <a:solidFill>
                <a:srgbClr val="1e293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리포트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942581" y="3821041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왜 비효율적인지</a:t>
            </a:r>
            <a:endParaRPr 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정량 지표로 설명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137141" y="2723761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137141" y="2723761"/>
            <a:ext cx="2011680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200">
              <a:latin typeface="맑은 고딕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137141" y="2723761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altLang="ko-KR" b="1">
                <a:solidFill>
                  <a:srgbClr val="ffffff"/>
                </a:solidFill>
                <a:latin typeface="맑은 고딕"/>
                <a:ea typeface="맑은 고딕"/>
              </a:rPr>
              <a:t>05</a:t>
            </a:r>
            <a:endParaRPr lang="en-US" altLang="ko-KR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137141" y="3135241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ko-KR" altLang="en-US" sz="1500" b="1">
                <a:solidFill>
                  <a:srgbClr val="1e293b"/>
                </a:solidFill>
                <a:latin typeface="맑은 고딕"/>
                <a:ea typeface="맑은 고딕"/>
              </a:rPr>
              <a:t>병목 위험 구간</a:t>
            </a:r>
            <a:endParaRPr lang="ko-KR" altLang="en-US" sz="1500" b="1">
              <a:solidFill>
                <a:srgbClr val="1e293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부하</a:t>
            </a:r>
            <a:r>
              <a:rPr lang="ko-KR" altLang="en-US" sz="1500" b="1">
                <a:solidFill>
                  <a:srgbClr val="1e293b"/>
                </a:solidFill>
                <a:latin typeface="맑은 고딕"/>
                <a:ea typeface="맑은 고딕"/>
              </a:rPr>
              <a:t> </a:t>
            </a: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예측</a:t>
            </a:r>
            <a:endParaRPr lang="en-US" sz="1500" b="1">
              <a:solidFill>
                <a:srgbClr val="1e293b"/>
              </a:solidFill>
              <a:latin typeface="맑은 고딕"/>
              <a:ea typeface="맑은 고딕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137141" y="3821041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LSTM 기반</a:t>
            </a:r>
            <a:endParaRPr 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병목 위험 구간 식별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31701" y="2723761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369a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331701" y="2723761"/>
            <a:ext cx="2011680" cy="36576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200">
              <a:latin typeface="맑은 고딕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331701" y="2723761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altLang="ko-KR" b="1">
                <a:solidFill>
                  <a:srgbClr val="ffffff"/>
                </a:solidFill>
                <a:latin typeface="맑은 고딕"/>
                <a:ea typeface="맑은 고딕"/>
              </a:rPr>
              <a:t>06</a:t>
            </a:r>
            <a:endParaRPr lang="en-US" altLang="ko-KR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331701" y="3135241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최적 설치점</a:t>
            </a:r>
            <a:endParaRPr lang="en-US" sz="1500" b="1">
              <a:solidFill>
                <a:srgbClr val="1e293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자동 추천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1701" y="3821041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A* 탐색 + AI</a:t>
            </a:r>
            <a:endParaRPr 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후보 제시</a:t>
            </a:r>
            <a:r>
              <a:rPr lang="en-US" altLang="ko-KR" sz="1200">
                <a:solidFill>
                  <a:srgbClr val="64748b"/>
                </a:solidFill>
                <a:latin typeface="맑은 고딕"/>
                <a:ea typeface="맑은 고딕"/>
              </a:rPr>
              <a:t> + GNN </a:t>
            </a:r>
            <a:endParaRPr lang="ko-KR" alt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ko-KR" altLang="en-US" sz="1200">
                <a:solidFill>
                  <a:srgbClr val="64748b"/>
                </a:solidFill>
                <a:latin typeface="맑은 고딕"/>
                <a:ea typeface="맑은 고딕"/>
              </a:rPr>
              <a:t>기반 재랭킹</a:t>
            </a:r>
            <a:endParaRPr lang="ko-KR" altLang="en-US" sz="1200">
              <a:solidFill>
                <a:srgbClr val="64748b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/>
          <p:cNvSpPr/>
          <p:nvPr/>
        </p:nvSpPr>
        <p:spPr>
          <a:xfrm>
            <a:off x="0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</a:rPr>
              <a:t>핵심 사용자 흐름</a:t>
            </a:r>
            <a:endParaRPr lang="en-US" sz="2600">
              <a:latin typeface="맑은 고딕"/>
              <a:ea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1554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82880" y="914400"/>
            <a:ext cx="1554480" cy="411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000">
              <a:latin typeface="맑은 고딕"/>
            </a:endParaRPr>
          </a:p>
        </p:txBody>
      </p:sp>
      <p:sp>
        <p:nvSpPr>
          <p:cNvPr id="6" name="Text 4"/>
          <p:cNvSpPr/>
          <p:nvPr/>
        </p:nvSpPr>
        <p:spPr>
          <a:xfrm>
            <a:off x="182880" y="9144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 b="1" kern="0" spc="100">
                <a:solidFill>
                  <a:srgbClr val="ffffff"/>
                </a:solidFill>
                <a:latin typeface="맑은 고딕"/>
                <a:ea typeface="맑은 고딕"/>
              </a:rPr>
              <a:t>STEP 1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7" name="Text 5"/>
          <p:cNvSpPr/>
          <p:nvPr/>
        </p:nvSpPr>
        <p:spPr>
          <a:xfrm>
            <a:off x="182880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병목 확인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8" name="Text 6"/>
          <p:cNvSpPr/>
          <p:nvPr/>
        </p:nvSpPr>
        <p:spPr>
          <a:xfrm>
            <a:off x="182880" y="21488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지도에서</a:t>
            </a:r>
            <a:endParaRPr 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혼잡 선로 식별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737360" y="2194560"/>
            <a:ext cx="219456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 wrap="square" anchor="ctr"/>
          <a:p>
            <a:pPr lvl="0" algn="ctr">
              <a:defRPr/>
            </a:pPr>
            <a:endParaRPr lang="ko-KR" altLang="en-US" sz="1200">
              <a:latin typeface="맑은 고딕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847088" y="20848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2563eb"/>
                </a:solidFill>
                <a:latin typeface="맑은 고딕"/>
                <a:ea typeface="맑은 고딕"/>
              </a:rPr>
              <a:t>▶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956816" y="914400"/>
            <a:ext cx="1554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956816" y="914400"/>
            <a:ext cx="155448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000">
              <a:latin typeface="맑은 고딕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956816" y="9144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 b="1" kern="0" spc="100">
                <a:solidFill>
                  <a:srgbClr val="ffffff"/>
                </a:solidFill>
                <a:latin typeface="맑은 고딕"/>
                <a:ea typeface="맑은 고딕"/>
              </a:rPr>
              <a:t>STEP 2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956816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가설 설치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56816" y="21488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지도 클릭으로</a:t>
            </a:r>
            <a:endParaRPr 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송전탑 배치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11296" y="2194560"/>
            <a:ext cx="219456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 wrap="square" anchor="ctr"/>
          <a:p>
            <a:pPr lvl="0" algn="ctr">
              <a:defRPr/>
            </a:pPr>
            <a:endParaRPr lang="ko-KR" altLang="en-US" sz="1200">
              <a:latin typeface="맑은 고딕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621024" y="20848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0891b2"/>
                </a:solidFill>
                <a:latin typeface="맑은 고딕"/>
                <a:ea typeface="맑은 고딕"/>
              </a:rPr>
              <a:t>▶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30752" y="914400"/>
            <a:ext cx="1554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30752" y="914400"/>
            <a:ext cx="1554480" cy="411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000">
              <a:latin typeface="맑은 고딕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730752" y="9144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 b="1" kern="0" spc="100">
                <a:solidFill>
                  <a:srgbClr val="ffffff"/>
                </a:solidFill>
                <a:latin typeface="맑은 고딕"/>
                <a:ea typeface="맑은 고딕"/>
              </a:rPr>
              <a:t>STEP 3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730752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AI 추천 적용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730752" y="21488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파라미터 자동</a:t>
            </a:r>
            <a:endParaRPr 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제안 + 검토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285232" y="2194560"/>
            <a:ext cx="219456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  <p:txBody>
          <a:bodyPr wrap="square" anchor="ctr"/>
          <a:p>
            <a:pPr lvl="0" algn="ctr">
              <a:defRPr/>
            </a:pPr>
            <a:endParaRPr lang="ko-KR" altLang="en-US" sz="1200">
              <a:latin typeface="맑은 고딕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394960" y="20848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7c3aed"/>
                </a:solidFill>
                <a:latin typeface="맑은 고딕"/>
                <a:ea typeface="맑은 고딕"/>
              </a:rPr>
              <a:t>▶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504688" y="914400"/>
            <a:ext cx="1554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504688" y="914400"/>
            <a:ext cx="1554480" cy="4114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000">
              <a:latin typeface="맑은 고딕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504688" y="9144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 b="1" kern="0" spc="100">
                <a:solidFill>
                  <a:srgbClr val="ffffff"/>
                </a:solidFill>
                <a:latin typeface="맑은 고딕"/>
                <a:ea typeface="맑은 고딕"/>
              </a:rPr>
              <a:t>STEP 4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504688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결과 확인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504688" y="21488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KPI · 색상 · 설명</a:t>
            </a:r>
            <a:endParaRPr 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즉시 반영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7059168" y="2194560"/>
            <a:ext cx="219456" cy="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  <p:txBody>
          <a:bodyPr wrap="square" anchor="ctr"/>
          <a:p>
            <a:pPr lvl="0" algn="ctr">
              <a:defRPr/>
            </a:pPr>
            <a:endParaRPr lang="ko-KR" altLang="en-US" sz="1200">
              <a:latin typeface="맑은 고딕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168896" y="20848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059669"/>
                </a:solidFill>
                <a:latin typeface="맑은 고딕"/>
                <a:ea typeface="맑은 고딕"/>
              </a:rPr>
              <a:t>▶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278624" y="914400"/>
            <a:ext cx="1554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278624" y="914400"/>
            <a:ext cx="1554480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2000">
              <a:latin typeface="맑은 고딕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7278624" y="9144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 b="1" kern="0" spc="100">
                <a:solidFill>
                  <a:srgbClr val="ffffff"/>
                </a:solidFill>
                <a:latin typeface="맑은 고딕"/>
                <a:ea typeface="맑은 고딕"/>
              </a:rPr>
              <a:t>STEP 5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278624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500" b="1">
                <a:solidFill>
                  <a:srgbClr val="1e293b"/>
                </a:solidFill>
                <a:latin typeface="맑은 고딕"/>
                <a:ea typeface="맑은 고딕"/>
              </a:rPr>
              <a:t>대안 비교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278624" y="21488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시나리오 저장</a:t>
            </a:r>
            <a:endParaRPr lang="en-US" sz="1200">
              <a:solidFill>
                <a:srgbClr val="64748b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sz="1200">
                <a:solidFill>
                  <a:srgbClr val="64748b"/>
                </a:solidFill>
                <a:latin typeface="맑은 고딕"/>
                <a:ea typeface="맑은 고딕"/>
              </a:rPr>
              <a:t>후 비교 분석</a:t>
            </a:r>
            <a:endParaRPr lang="en-US" sz="1200">
              <a:latin typeface="맑은 고딕"/>
              <a:ea typeface="맑은 고딕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182880" y="4434840"/>
            <a:ext cx="87782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274320" y="44348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100">
                <a:solidFill>
                  <a:srgbClr val="1d4ed8"/>
                </a:solidFill>
                <a:latin typeface="맑은 고딕"/>
                <a:ea typeface="맑은 고딕"/>
              </a:rPr>
              <a:t>+ 예측 모드: LSTM </a:t>
            </a:r>
            <a:r>
              <a:rPr lang="ko-KR" altLang="en-US" sz="1100">
                <a:solidFill>
                  <a:srgbClr val="1d4ed8"/>
                </a:solidFill>
                <a:latin typeface="맑은 고딕"/>
                <a:ea typeface="맑은 고딕"/>
              </a:rPr>
              <a:t>기반 병목 위험 구간 </a:t>
            </a:r>
            <a:r>
              <a:rPr lang="en-US" sz="1100">
                <a:solidFill>
                  <a:srgbClr val="1d4ed8"/>
                </a:solidFill>
                <a:latin typeface="맑은 고딕"/>
                <a:ea typeface="맑은 고딕"/>
              </a:rPr>
              <a:t>부하 예측 → 시간대별 위험 구간 표시 </a:t>
            </a:r>
            <a:endParaRPr lang="en-US" sz="1100">
              <a:solidFill>
                <a:srgbClr val="1d4ed8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/>
          <p:cNvSpPr/>
          <p:nvPr/>
        </p:nvSpPr>
        <p:spPr>
          <a:xfrm>
            <a:off x="0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</a:rPr>
              <a:t>시스템 아키텍처</a:t>
            </a:r>
            <a:endParaRPr lang="en-US" sz="2600">
              <a:latin typeface="맑은 고딕"/>
              <a:ea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8686800" cy="868680"/>
          </a:xfrm>
          <a:prstGeom prst="rect">
            <a:avLst/>
          </a:prstGeom>
          <a:solidFill>
            <a:srgbClr val="eff6ff"/>
          </a:solidFill>
          <a:ln w="1524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28600" y="914400"/>
            <a:ext cx="182880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9784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300" b="1">
                <a:solidFill>
                  <a:srgbClr val="2563eb"/>
                </a:solidFill>
                <a:latin typeface="맑은 고딕"/>
                <a:ea typeface="맑은 고딕"/>
              </a:rPr>
              <a:t>① Presentation Layer</a:t>
            </a:r>
            <a:endParaRPr lang="en-US" sz="1300">
              <a:latin typeface="맑은 고딕"/>
              <a:ea typeface="맑은 고딕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353312"/>
            <a:ext cx="1874520" cy="274320"/>
          </a:xfrm>
          <a:prstGeom prst="rect">
            <a:avLst/>
          </a:prstGeom>
          <a:solidFill>
            <a:srgbClr val="2563eb">
              <a:alpha val="15000"/>
            </a:srgbClr>
          </a:solidFill>
          <a:ln w="12700">
            <a:solidFill>
              <a:srgbClr val="2563eb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2563eb"/>
                </a:solidFill>
                <a:latin typeface="맑은 고딕"/>
                <a:ea typeface="맑은 고딕"/>
              </a:rPr>
              <a:t>브이월드 지도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578608" y="1353312"/>
            <a:ext cx="1874520" cy="274320"/>
          </a:xfrm>
          <a:prstGeom prst="rect">
            <a:avLst/>
          </a:prstGeom>
          <a:solidFill>
            <a:srgbClr val="2563eb">
              <a:alpha val="15000"/>
            </a:srgbClr>
          </a:solidFill>
          <a:ln w="12700">
            <a:solidFill>
              <a:srgbClr val="2563eb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578608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2563eb"/>
                </a:solidFill>
                <a:latin typeface="맑은 고딕"/>
                <a:ea typeface="맑은 고딕"/>
              </a:rPr>
              <a:t>사이드바 제어 패널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608576" y="1353312"/>
            <a:ext cx="1874520" cy="274320"/>
          </a:xfrm>
          <a:prstGeom prst="rect">
            <a:avLst/>
          </a:prstGeom>
          <a:solidFill>
            <a:srgbClr val="2563eb">
              <a:alpha val="15000"/>
            </a:srgbClr>
          </a:solidFill>
          <a:ln w="12700">
            <a:solidFill>
              <a:srgbClr val="2563eb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08576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2563eb"/>
                </a:solidFill>
                <a:latin typeface="맑은 고딕"/>
                <a:ea typeface="맑은 고딕"/>
              </a:rPr>
              <a:t>KPI 카드 / 차트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638544" y="1353312"/>
            <a:ext cx="1874520" cy="274320"/>
          </a:xfrm>
          <a:prstGeom prst="rect">
            <a:avLst/>
          </a:prstGeom>
          <a:solidFill>
            <a:srgbClr val="2563eb">
              <a:alpha val="15000"/>
            </a:srgbClr>
          </a:solidFill>
          <a:ln w="12700">
            <a:solidFill>
              <a:srgbClr val="2563eb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638544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2563eb"/>
                </a:solidFill>
                <a:latin typeface="맑은 고딕"/>
                <a:ea typeface="맑은 고딕"/>
              </a:rPr>
              <a:t>시나리오 비교 패널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480560" y="1783080"/>
            <a:ext cx="0" cy="7315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 wrap="square"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389120" y="177393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맑은 고딕"/>
                <a:ea typeface="맑은 고딕"/>
              </a:rPr>
              <a:t>▼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600" y="1920240"/>
            <a:ext cx="8686800" cy="868680"/>
          </a:xfrm>
          <a:prstGeom prst="rect">
            <a:avLst/>
          </a:prstGeom>
          <a:solidFill>
            <a:srgbClr val="f0fdfa"/>
          </a:solidFill>
          <a:ln w="1524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28600" y="1920240"/>
            <a:ext cx="182880" cy="8686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19842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300" b="1">
                <a:solidFill>
                  <a:srgbClr val="0891b2"/>
                </a:solidFill>
                <a:latin typeface="맑은 고딕"/>
                <a:ea typeface="맑은 고딕"/>
              </a:rPr>
              <a:t>② Orchestration Layer</a:t>
            </a:r>
            <a:endParaRPr lang="en-US" sz="1300">
              <a:latin typeface="맑은 고딕"/>
              <a:ea typeface="맑은 고딕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2359152"/>
            <a:ext cx="1874520" cy="274320"/>
          </a:xfrm>
          <a:prstGeom prst="rect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48640" y="235915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0891b2"/>
                </a:solidFill>
                <a:latin typeface="맑은 고딕"/>
                <a:ea typeface="맑은 고딕"/>
              </a:rPr>
              <a:t>Session State 관리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78608" y="2359152"/>
            <a:ext cx="1874520" cy="274320"/>
          </a:xfrm>
          <a:prstGeom prst="rect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578608" y="235915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0891b2"/>
                </a:solidFill>
                <a:latin typeface="맑은 고딕"/>
                <a:ea typeface="맑은 고딕"/>
              </a:rPr>
              <a:t>클릭 좌표 / 부하 설정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608576" y="2359152"/>
            <a:ext cx="1874520" cy="274320"/>
          </a:xfrm>
          <a:prstGeom prst="rect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608576" y="235915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0891b2"/>
                </a:solidFill>
                <a:latin typeface="맑은 고딕"/>
                <a:ea typeface="맑은 고딕"/>
              </a:rPr>
              <a:t>폼 입력 상태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638544" y="2359152"/>
            <a:ext cx="1874520" cy="274320"/>
          </a:xfrm>
          <a:prstGeom prst="rect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638544" y="235915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0891b2"/>
                </a:solidFill>
                <a:latin typeface="맑은 고딕"/>
                <a:ea typeface="맑은 고딕"/>
              </a:rPr>
              <a:t>시나리오 선택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480560" y="2788920"/>
            <a:ext cx="0" cy="7315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 wrap="square"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389120" y="277977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맑은 고딕"/>
                <a:ea typeface="맑은 고딕"/>
              </a:rPr>
              <a:t>▼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228600" y="2926080"/>
            <a:ext cx="8686800" cy="868680"/>
          </a:xfrm>
          <a:prstGeom prst="rect">
            <a:avLst/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228600" y="2926080"/>
            <a:ext cx="182880" cy="8686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29900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300" b="1">
                <a:solidFill>
                  <a:srgbClr val="7c3aed"/>
                </a:solidFill>
                <a:latin typeface="맑은 고딕"/>
                <a:ea typeface="맑은 고딕"/>
              </a:rPr>
              <a:t>③ Domain Service Layer</a:t>
            </a:r>
            <a:endParaRPr lang="en-US" sz="1300">
              <a:latin typeface="맑은 고딕"/>
              <a:ea typeface="맑은 고딕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3364992"/>
            <a:ext cx="1874520" cy="27432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8640" y="33649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7c3aed"/>
                </a:solidFill>
                <a:latin typeface="맑은 고딕"/>
                <a:ea typeface="맑은 고딕"/>
              </a:rPr>
              <a:t>MonitoringService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2578608" y="3364992"/>
            <a:ext cx="1874520" cy="27432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2578608" y="33649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7c3aed"/>
                </a:solidFill>
                <a:latin typeface="맑은 고딕"/>
                <a:ea typeface="맑은 고딕"/>
              </a:rPr>
              <a:t>SimulationService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608576" y="3364992"/>
            <a:ext cx="1874520" cy="27432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608576" y="33649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7c3aed"/>
                </a:solidFill>
                <a:latin typeface="맑은 고딕"/>
                <a:ea typeface="맑은 고딕"/>
              </a:rPr>
              <a:t>RecommendationService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638544" y="3364992"/>
            <a:ext cx="1874520" cy="27432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638544" y="33649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altLang="ko-KR" sz="1000">
                <a:solidFill>
                  <a:srgbClr val="7c3aed"/>
                </a:solidFill>
                <a:latin typeface="맑은 고딕"/>
                <a:ea typeface="맑은 고딕"/>
              </a:rPr>
              <a:t>ScenarioService</a:t>
            </a:r>
            <a:endParaRPr lang="en-US" altLang="ko-KR" sz="1000">
              <a:solidFill>
                <a:srgbClr val="7c3aed"/>
              </a:solidFill>
              <a:latin typeface="맑은 고딕"/>
              <a:ea typeface="맑은 고딕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480560" y="3794760"/>
            <a:ext cx="0" cy="7315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 wrap="square"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389120" y="378561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맑은 고딕"/>
                <a:ea typeface="맑은 고딕"/>
              </a:rPr>
              <a:t>▼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228600" y="3931920"/>
            <a:ext cx="8686800" cy="868680"/>
          </a:xfrm>
          <a:prstGeom prst="rect">
            <a:avLst/>
          </a:prstGeom>
          <a:solidFill>
            <a:srgbClr val="f0fdf4"/>
          </a:solidFill>
          <a:ln w="1524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228600" y="3931920"/>
            <a:ext cx="182880" cy="8686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48640" y="39959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300" b="1">
                <a:solidFill>
                  <a:srgbClr val="059669"/>
                </a:solidFill>
                <a:latin typeface="맑은 고딕"/>
                <a:ea typeface="맑은 고딕"/>
              </a:rPr>
              <a:t>④ Computation Engine Layer</a:t>
            </a:r>
            <a:endParaRPr lang="en-US" sz="1300">
              <a:latin typeface="맑은 고딕"/>
              <a:ea typeface="맑은 고딕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548640" y="4370832"/>
            <a:ext cx="1874520" cy="27432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548640" y="43708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059669"/>
                </a:solidFill>
                <a:latin typeface="맑은 고딕"/>
                <a:ea typeface="맑은 고딕"/>
              </a:rPr>
              <a:t>dc_power_flow.py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2578608" y="4370832"/>
            <a:ext cx="1874520" cy="27432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2578608" y="43708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059669"/>
                </a:solidFill>
                <a:latin typeface="맑은 고딕"/>
                <a:ea typeface="맑은 고딕"/>
              </a:rPr>
              <a:t>candidate_generator.py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608576" y="4370832"/>
            <a:ext cx="1874520" cy="27432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4608576" y="43708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00">
                <a:solidFill>
                  <a:srgbClr val="059669"/>
                </a:solidFill>
                <a:latin typeface="맑은 고딕"/>
                <a:ea typeface="맑은 고딕"/>
              </a:rPr>
              <a:t>lstm_forecaster.py</a:t>
            </a:r>
            <a:r>
              <a:rPr lang="en-US" altLang="ko-KR" sz="1000">
                <a:solidFill>
                  <a:srgbClr val="059669"/>
                </a:solidFill>
                <a:latin typeface="맑은 고딕"/>
                <a:ea typeface="맑은 고딕"/>
              </a:rPr>
              <a:t>/</a:t>
            </a:r>
            <a:endParaRPr lang="en-US" altLang="ko-KR" sz="1000">
              <a:solidFill>
                <a:srgbClr val="059669"/>
              </a:solidFill>
              <a:latin typeface="맑은 고딕"/>
              <a:ea typeface="맑은 고딕"/>
            </a:endParaRPr>
          </a:p>
          <a:p>
            <a:pPr marL="0" lvl="0" indent="0" algn="ctr">
              <a:buNone/>
              <a:defRPr/>
            </a:pPr>
            <a:r>
              <a:rPr lang="en-US" altLang="ko-KR" sz="1000">
                <a:solidFill>
                  <a:srgbClr val="059669"/>
                </a:solidFill>
                <a:latin typeface="맑은 고딕"/>
                <a:ea typeface="맑은 고딕"/>
              </a:rPr>
              <a:t>gnn_ranker.py</a:t>
            </a:r>
            <a:endParaRPr lang="en-US" altLang="ko-KR" sz="1000">
              <a:solidFill>
                <a:srgbClr val="059669"/>
              </a:solidFill>
              <a:latin typeface="맑은 고딕"/>
              <a:ea typeface="맑은 고딕"/>
            </a:endParaRPr>
          </a:p>
        </p:txBody>
      </p:sp>
      <p:sp>
        <p:nvSpPr>
          <p:cNvPr id="56" name="Shape 48"/>
          <p:cNvSpPr/>
          <p:nvPr/>
        </p:nvSpPr>
        <p:spPr>
          <a:xfrm>
            <a:off x="6638544" y="4370832"/>
            <a:ext cx="1874520" cy="27432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900">
              <a:latin typeface="맑은 고딕"/>
            </a:endParaRPr>
          </a:p>
        </p:txBody>
      </p:sp>
      <p:sp>
        <p:nvSpPr>
          <p:cNvPr id="57" name="Text 49"/>
          <p:cNvSpPr/>
          <p:nvPr/>
        </p:nvSpPr>
        <p:spPr>
          <a:xfrm>
            <a:off x="6638544" y="43708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altLang="ko-KR" sz="1000">
                <a:solidFill>
                  <a:srgbClr val="059669"/>
                </a:solidFill>
                <a:latin typeface="맑은 고딕"/>
                <a:ea typeface="맑은 고딕"/>
              </a:rPr>
              <a:t>xai_reporter.py</a:t>
            </a:r>
            <a:endParaRPr lang="en-US" altLang="ko-KR" sz="1000">
              <a:solidFill>
                <a:srgbClr val="0596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직사각형 48"/>
          <p:cNvSpPr/>
          <p:nvPr/>
        </p:nvSpPr>
        <p:spPr>
          <a:xfrm>
            <a:off x="0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</a:rPr>
              <a:t>AI 학습 및 송전망 경로 최적화 메커니즘</a:t>
            </a:r>
            <a:endParaRPr lang="en-US" sz="2600">
              <a:latin typeface="맑은 고딕"/>
              <a:ea typeface="맑은 고딕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500" b="1">
                <a:solidFill>
                  <a:srgbClr val="64748b"/>
                </a:solidFill>
                <a:latin typeface="맑은 고딕"/>
                <a:ea typeface="맑은 고딕"/>
              </a:rPr>
              <a:t>① 학습 데이터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274320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2100">
              <a:latin typeface="맑은 고딕"/>
            </a:endParaRPr>
          </a:p>
        </p:txBody>
      </p:sp>
      <p:sp>
        <p:nvSpPr>
          <p:cNvPr id="7" name="Text 5"/>
          <p:cNvSpPr/>
          <p:nvPr/>
        </p:nvSpPr>
        <p:spPr>
          <a:xfrm>
            <a:off x="274320" y="11887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맑은 고딕"/>
                <a:ea typeface="맑은 고딕"/>
              </a:rPr>
              <a:t>과거 부하 이력</a:t>
            </a:r>
            <a:endParaRPr lang="en-US" sz="1400">
              <a:latin typeface="맑은 고딕"/>
              <a:ea typeface="맑은 고딕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84048" y="1627632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9" name="Text 7"/>
          <p:cNvSpPr/>
          <p:nvPr/>
        </p:nvSpPr>
        <p:spPr>
          <a:xfrm>
            <a:off x="530352" y="158191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  <a:ea typeface="맑은 고딕"/>
              </a:rPr>
              <a:t>시간대별 수요 패턴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84048" y="1947672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30352" y="190195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  <a:ea typeface="맑은 고딕"/>
              </a:rPr>
              <a:t>요일·공휴일·계절 변수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84048" y="2267712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0352" y="222199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  <a:ea typeface="맑은 고딕"/>
              </a:rPr>
              <a:t>지역별 수요 비중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00400" y="118872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200400" y="1188720"/>
            <a:ext cx="274320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2100">
              <a:latin typeface="맑은 고딕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00400" y="11887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맑은 고딕"/>
                <a:ea typeface="맑은 고딕"/>
              </a:rPr>
              <a:t>혼잡 시나리오 로그</a:t>
            </a:r>
            <a:endParaRPr lang="en-US" sz="1400">
              <a:latin typeface="맑은 고딕"/>
              <a:ea typeface="맑은 고딕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128" y="1627632"/>
            <a:ext cx="91440" cy="914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456432" y="158191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  <a:ea typeface="맑은 고딕"/>
              </a:rPr>
              <a:t>병목 발생 구간·시각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310128" y="1947672"/>
            <a:ext cx="91440" cy="914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456432" y="190195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  <a:ea typeface="맑은 고딕"/>
              </a:rPr>
              <a:t>과부하 선로 특성값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310128" y="2267712"/>
            <a:ext cx="91440" cy="914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456432" y="222199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  <a:ea typeface="맑은 고딕"/>
              </a:rPr>
              <a:t>혼잡 해소 성공 패턴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126480" y="118872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26480" y="1188720"/>
            <a:ext cx="274320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2100">
              <a:latin typeface="맑은 고딕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126480" y="11887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맑은 고딕"/>
                <a:ea typeface="맑은 고딕"/>
              </a:rPr>
              <a:t>설치 이력 데이터</a:t>
            </a:r>
            <a:endParaRPr lang="en-US" sz="1400">
              <a:latin typeface="맑은 고딕"/>
              <a:ea typeface="맑은 고딕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236208" y="1627632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82512" y="158191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  <a:ea typeface="맑은 고딕"/>
              </a:rPr>
              <a:t>후보 위치 특성 피처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36208" y="1947672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382512" y="190195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  <a:ea typeface="맑은 고딕"/>
              </a:rPr>
              <a:t>적용된 파라미터 값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236208" y="2267712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382512" y="222199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  <a:ea typeface="맑은 고딕"/>
              </a:rPr>
              <a:t>결과 개선 정도(ΔU, ΔP)</a:t>
            </a:r>
            <a:endParaRPr lang="en-US" sz="1050">
              <a:latin typeface="맑은 고딕"/>
              <a:ea typeface="맑은 고딕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74320" y="292608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500" b="1">
                <a:solidFill>
                  <a:srgbClr val="64748b"/>
                </a:solidFill>
                <a:latin typeface="맑은 고딕"/>
                <a:ea typeface="맑은 고딕"/>
              </a:rPr>
              <a:t>② AI 모델 학습</a:t>
            </a:r>
            <a:endParaRPr lang="en-US" sz="1500">
              <a:latin typeface="맑은 고딕"/>
              <a:ea typeface="맑은 고딕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274320" y="3218688"/>
            <a:ext cx="41148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274320" y="3218688"/>
            <a:ext cx="411480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400">
              <a:latin typeface="맑은 고딕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365760" y="32186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맑은 고딕"/>
                <a:ea typeface="맑은 고딕"/>
              </a:rPr>
              <a:t>LSTM — 부하 예측 모델</a:t>
            </a:r>
            <a:endParaRPr lang="en-US" sz="1400">
              <a:latin typeface="맑은 고딕"/>
              <a:ea typeface="맑은 고딕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65760" y="36393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  <a:ea typeface="맑은 고딕"/>
              </a:rPr>
              <a:t>입력: 최근 72h 부하 + 시간대 + 요일 + 지역 수요 비중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365760" y="39136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  <a:ea typeface="맑은 고딕"/>
              </a:rPr>
              <a:t>학습: 시계열 시퀀스 → LSTM → Dense → 24h 예측값 출력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365760" y="4187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  <a:ea typeface="맑은 고딕"/>
              </a:rPr>
              <a:t>출력: 시간대별 예측 부하 + 병목 위험 Top-N 선로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754880" y="3218688"/>
            <a:ext cx="41148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754880" y="3218688"/>
            <a:ext cx="411480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400">
              <a:latin typeface="맑은 고딕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4846320" y="32186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altLang="ko-KR" sz="1400" b="1">
                <a:solidFill>
                  <a:srgbClr val="ffffff"/>
                </a:solidFill>
                <a:latin typeface="맑은 고딕"/>
                <a:ea typeface="맑은 고딕"/>
              </a:rPr>
              <a:t>GNN - </a:t>
            </a:r>
            <a:r>
              <a:rPr lang="en-US" sz="1400" b="1">
                <a:solidFill>
                  <a:srgbClr val="ffffff"/>
                </a:solidFill>
                <a:latin typeface="맑은 고딕"/>
                <a:ea typeface="맑은 고딕"/>
              </a:rPr>
              <a:t>설치점 추천 보조 모델</a:t>
            </a:r>
            <a:endParaRPr lang="en-US" sz="14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846320" y="36393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  <a:ea typeface="맑은 고딕"/>
              </a:rPr>
              <a:t>입력: 후보 위치 피처</a:t>
            </a:r>
            <a:r>
              <a:rPr lang="ko-KR" altLang="en-US" sz="1000">
                <a:solidFill>
                  <a:srgbClr val="1e293b"/>
                </a:solidFill>
                <a:latin typeface="맑은 고딕"/>
                <a:ea typeface="맑은 고딕"/>
              </a:rPr>
              <a:t> </a:t>
            </a:r>
            <a:r>
              <a:rPr lang="en-US" altLang="ko-KR" sz="1000">
                <a:solidFill>
                  <a:srgbClr val="1e293b"/>
                </a:solidFill>
                <a:latin typeface="맑은 고딕"/>
                <a:ea typeface="맑은 고딕"/>
              </a:rPr>
              <a:t>+ </a:t>
            </a:r>
            <a:r>
              <a:rPr lang="ko-KR" altLang="en-US" sz="1000">
                <a:solidFill>
                  <a:srgbClr val="1e293b"/>
                </a:solidFill>
                <a:latin typeface="맑은 고딕"/>
                <a:ea typeface="맑은 고딕"/>
              </a:rPr>
              <a:t>노드</a:t>
            </a:r>
            <a:r>
              <a:rPr lang="en-US" altLang="ko-KR" sz="1000">
                <a:solidFill>
                  <a:srgbClr val="1e293b"/>
                </a:solidFill>
                <a:latin typeface="맑은 고딕"/>
                <a:ea typeface="맑은 고딕"/>
              </a:rPr>
              <a:t>/</a:t>
            </a:r>
            <a:r>
              <a:rPr lang="ko-KR" altLang="en-US" sz="1000">
                <a:solidFill>
                  <a:srgbClr val="1e293b"/>
                </a:solidFill>
                <a:latin typeface="맑은 고딕"/>
                <a:ea typeface="맑은 고딕"/>
              </a:rPr>
              <a:t>엣지 특성 </a:t>
            </a:r>
            <a:r>
              <a:rPr lang="en-US" altLang="ko-KR" sz="1000">
                <a:solidFill>
                  <a:srgbClr val="1e293b"/>
                </a:solidFill>
                <a:latin typeface="맑은 고딕"/>
                <a:ea typeface="맑은 고딕"/>
              </a:rPr>
              <a:t>+ </a:t>
            </a:r>
            <a:r>
              <a:rPr lang="ko-KR" altLang="en-US" sz="1000">
                <a:solidFill>
                  <a:srgbClr val="1e293b"/>
                </a:solidFill>
                <a:latin typeface="맑은 고딕"/>
                <a:ea typeface="맑은 고딕"/>
              </a:rPr>
              <a:t>그래프</a:t>
            </a:r>
            <a:r>
              <a:rPr lang="en-US" altLang="ko-KR" sz="1000">
                <a:solidFill>
                  <a:srgbClr val="1e293b"/>
                </a:solidFill>
                <a:latin typeface="맑은 고딕"/>
                <a:ea typeface="맑은 고딕"/>
              </a:rPr>
              <a:t> </a:t>
            </a:r>
            <a:r>
              <a:rPr lang="ko-KR" altLang="en-US" sz="1000">
                <a:solidFill>
                  <a:srgbClr val="1e293b"/>
                </a:solidFill>
                <a:latin typeface="맑은 고딕"/>
                <a:ea typeface="맑은 고딕"/>
              </a:rPr>
              <a:t>구조</a:t>
            </a:r>
            <a:endParaRPr lang="ko-KR" altLang="en-US" sz="1000">
              <a:solidFill>
                <a:srgbClr val="1e293b"/>
              </a:solidFill>
              <a:latin typeface="맑은 고딕"/>
              <a:ea typeface="맑은 고딕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4846320" y="39136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  <a:ea typeface="맑은 고딕"/>
              </a:rPr>
              <a:t>학습: </a:t>
            </a:r>
            <a:r>
              <a:rPr lang="ko-KR" altLang="en-US" sz="1000">
                <a:solidFill>
                  <a:srgbClr val="1e293b"/>
                </a:solidFill>
                <a:latin typeface="맑은 고딕"/>
                <a:ea typeface="맑은 고딕"/>
              </a:rPr>
              <a:t>메세지 패싱 </a:t>
            </a:r>
            <a:r>
              <a:rPr lang="en-US" altLang="ko-KR" sz="1000">
                <a:solidFill>
                  <a:srgbClr val="1e293b"/>
                </a:solidFill>
                <a:latin typeface="맑은 고딕"/>
                <a:ea typeface="맑은 고딕"/>
              </a:rPr>
              <a:t>-&gt;</a:t>
            </a:r>
            <a:r>
              <a:rPr lang="ko-KR" altLang="en-US" sz="1000">
                <a:solidFill>
                  <a:srgbClr val="1e293b"/>
                </a:solidFill>
                <a:latin typeface="맑은 고딕"/>
                <a:ea typeface="맑은 고딕"/>
              </a:rPr>
              <a:t>노드</a:t>
            </a:r>
            <a:r>
              <a:rPr lang="en-US" altLang="ko-KR" sz="1000">
                <a:solidFill>
                  <a:srgbClr val="1e293b"/>
                </a:solidFill>
                <a:latin typeface="맑은 고딕"/>
                <a:ea typeface="맑은 고딕"/>
              </a:rPr>
              <a:t> </a:t>
            </a:r>
            <a:r>
              <a:rPr lang="ko-KR" altLang="en-US" sz="1000">
                <a:solidFill>
                  <a:srgbClr val="1e293b"/>
                </a:solidFill>
                <a:latin typeface="맑은 고딕"/>
                <a:ea typeface="맑은 고딕"/>
              </a:rPr>
              <a:t>임베딩</a:t>
            </a:r>
            <a:r>
              <a:rPr lang="en-US" altLang="ko-KR" sz="1000">
                <a:solidFill>
                  <a:srgbClr val="1e293b"/>
                </a:solidFill>
                <a:latin typeface="맑은 고딕"/>
                <a:ea typeface="맑은 고딕"/>
              </a:rPr>
              <a:t> </a:t>
            </a:r>
            <a:r>
              <a:rPr lang="ko-KR" altLang="en-US" sz="1000">
                <a:solidFill>
                  <a:srgbClr val="1e293b"/>
                </a:solidFill>
                <a:latin typeface="맑은 고딕"/>
                <a:ea typeface="맑은 고딕"/>
              </a:rPr>
              <a:t>생성 </a:t>
            </a:r>
            <a:r>
              <a:rPr lang="en-US" altLang="ko-KR" sz="1000">
                <a:solidFill>
                  <a:srgbClr val="1e293b"/>
                </a:solidFill>
                <a:latin typeface="맑은 고딕"/>
                <a:ea typeface="맑은 고딕"/>
              </a:rPr>
              <a:t>-&gt;</a:t>
            </a:r>
            <a:r>
              <a:rPr lang="ko-KR" altLang="en-US" sz="1000">
                <a:solidFill>
                  <a:srgbClr val="1e293b"/>
                </a:solidFill>
                <a:latin typeface="맑은 고딕"/>
                <a:ea typeface="맑은 고딕"/>
              </a:rPr>
              <a:t>후보</a:t>
            </a:r>
            <a:r>
              <a:rPr lang="en-US" altLang="ko-KR" sz="1000">
                <a:solidFill>
                  <a:srgbClr val="1e293b"/>
                </a:solidFill>
                <a:latin typeface="맑은 고딕"/>
                <a:ea typeface="맑은 고딕"/>
              </a:rPr>
              <a:t> </a:t>
            </a:r>
            <a:r>
              <a:rPr lang="ko-KR" altLang="en-US" sz="1000">
                <a:solidFill>
                  <a:srgbClr val="1e293b"/>
                </a:solidFill>
                <a:latin typeface="맑은 고딕"/>
                <a:ea typeface="맑은 고딕"/>
              </a:rPr>
              <a:t>점수 예측</a:t>
            </a:r>
            <a:endParaRPr lang="ko-KR" altLang="en-US" sz="1000">
              <a:solidFill>
                <a:srgbClr val="1e293b"/>
              </a:solidFill>
              <a:latin typeface="맑은 고딕"/>
              <a:ea typeface="맑은 고딕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4846320" y="4187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  <a:ea typeface="맑은 고딕"/>
              </a:rPr>
              <a:t>출력: A* 후보 재랭킹 → 상위 3~5개 최종 추천</a:t>
            </a:r>
            <a:endParaRPr lang="en-US" sz="1000">
              <a:latin typeface="맑은 고딕"/>
              <a:ea typeface="맑은 고딕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274320" y="4645152"/>
            <a:ext cx="8595360" cy="347472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365760" y="46451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66534"/>
                </a:solidFill>
                <a:latin typeface="맑은 고딕"/>
                <a:ea typeface="맑은 고딕"/>
              </a:rPr>
              <a:t>③ 검증 루프:  AI 추천 결과  →  DC Power Flow 재계산 (결정론적)  →  수치 확인  →  사용자 최종 선택</a:t>
            </a:r>
            <a:endParaRPr lang="en-US" sz="1050"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/>
          <p:cNvSpPr/>
          <p:nvPr/>
        </p:nvSpPr>
        <p:spPr>
          <a:xfrm>
            <a:off x="0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</a:rPr>
              <a:t>기술 스택</a:t>
            </a:r>
            <a:endParaRPr lang="en-US" sz="2600">
              <a:latin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27432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28600" y="914400"/>
            <a:ext cx="2743200" cy="3200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맑은 고딕"/>
              </a:rPr>
              <a:t>Framework / Language</a:t>
            </a:r>
            <a:endParaRPr lang="en-US" sz="1400">
              <a:latin typeface="맑은 고딕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20040" y="1307592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8" name="Text 6"/>
          <p:cNvSpPr/>
          <p:nvPr/>
        </p:nvSpPr>
        <p:spPr>
          <a:xfrm>
            <a:off x="484632" y="126187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Streamlit (프론트+백 통합)</a:t>
            </a:r>
            <a:endParaRPr lang="en-US" sz="1200">
              <a:latin typeface="맑은 고딕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20040" y="1655064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84632" y="160934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Python</a:t>
            </a:r>
            <a:endParaRPr lang="en-US" sz="1200">
              <a:latin typeface="맑은 고딕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28600" y="2176272"/>
            <a:ext cx="2743200" cy="1088136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28600" y="2176272"/>
            <a:ext cx="274320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20040" y="21762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맑은 고딕"/>
              </a:rPr>
              <a:t>Computation</a:t>
            </a:r>
            <a:endParaRPr lang="en-US" sz="1400">
              <a:latin typeface="맑은 고딕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0040" y="2569464"/>
            <a:ext cx="91440" cy="914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4632" y="252374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NumPy / SciPy</a:t>
            </a:r>
            <a:endParaRPr lang="en-US" sz="1200">
              <a:latin typeface="맑은 고딕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0040" y="2916936"/>
            <a:ext cx="91440" cy="914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4632" y="287121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NetworkX (그래프)</a:t>
            </a:r>
            <a:endParaRPr lang="en-US" sz="1200">
              <a:latin typeface="맑은 고딕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154680" y="914400"/>
            <a:ext cx="2743200" cy="1929384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154680" y="914400"/>
            <a:ext cx="27432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400">
              <a:latin typeface="맑은 고딕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246120" y="914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맑은 고딕"/>
              </a:rPr>
              <a:t>AI / ML</a:t>
            </a:r>
            <a:endParaRPr lang="en-US" sz="1400">
              <a:latin typeface="맑은 고딕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46120" y="1307592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410712" y="126187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TensorFlow / Keras (LSTM)</a:t>
            </a:r>
            <a:endParaRPr lang="en-US" sz="1200">
              <a:latin typeface="맑은 고딕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246120" y="1655064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410712" y="160934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규칙기반 xAI 리포터</a:t>
            </a:r>
            <a:endParaRPr lang="en-US" sz="1200">
              <a:latin typeface="맑은 고딕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246120" y="2002536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410712" y="195681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pandas (데이터 처리)</a:t>
            </a:r>
            <a:endParaRPr lang="en-US" sz="1200">
              <a:latin typeface="맑은 고딕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80760" y="2487168"/>
            <a:ext cx="27432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080760" y="2487168"/>
            <a:ext cx="274320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172200" y="24871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맑은 고딕"/>
              </a:rPr>
              <a:t>Map / Visualization</a:t>
            </a:r>
            <a:endParaRPr lang="en-US" sz="1400">
              <a:latin typeface="맑은 고딕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172200" y="2880360"/>
            <a:ext cx="91440" cy="914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336792" y="2834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브이월드 Open API</a:t>
            </a:r>
            <a:endParaRPr lang="en-US" sz="1200">
              <a:latin typeface="맑은 고딕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172200" y="3227832"/>
            <a:ext cx="91440" cy="914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336792" y="31821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Plotly / Altair</a:t>
            </a:r>
            <a:endParaRPr lang="en-US" sz="1200">
              <a:latin typeface="맑은 고딕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914400"/>
            <a:ext cx="27432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080760" y="914400"/>
            <a:ext cx="2743200" cy="320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172200" y="914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맑은 고딕"/>
              </a:rPr>
              <a:t>Storage / Deploy</a:t>
            </a:r>
            <a:endParaRPr lang="en-US" sz="1400">
              <a:latin typeface="맑은 고딕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172200" y="1307592"/>
            <a:ext cx="91440" cy="914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336792" y="126187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CSV / SQLite</a:t>
            </a:r>
            <a:endParaRPr lang="en-US" sz="1200">
              <a:latin typeface="맑은 고딕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72200" y="1655064"/>
            <a:ext cx="91440" cy="914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336792" y="160934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Streamlit Community Cloud</a:t>
            </a:r>
            <a:endParaRPr lang="en-US" sz="1200">
              <a:latin typeface="맑은 고딕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172200" y="2002536"/>
            <a:ext cx="91440" cy="914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336792" y="195681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>
                <a:solidFill>
                  <a:srgbClr val="1e293b"/>
                </a:solidFill>
                <a:latin typeface="맑은 고딕"/>
              </a:rPr>
              <a:t>GitHub</a:t>
            </a:r>
            <a:endParaRPr lang="en-US" sz="1200">
              <a:latin typeface="맑은 고딕"/>
            </a:endParaRPr>
          </a:p>
        </p:txBody>
      </p:sp>
      <p:sp>
        <p:nvSpPr>
          <p:cNvPr id="46" name="Shape 25"/>
          <p:cNvSpPr/>
          <p:nvPr/>
        </p:nvSpPr>
        <p:spPr>
          <a:xfrm>
            <a:off x="3248025" y="2369058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 sz="1200">
              <a:latin typeface="맑은 고딕"/>
            </a:endParaRPr>
          </a:p>
        </p:txBody>
      </p:sp>
      <p:sp>
        <p:nvSpPr>
          <p:cNvPr id="47" name="Text 26"/>
          <p:cNvSpPr/>
          <p:nvPr/>
        </p:nvSpPr>
        <p:spPr>
          <a:xfrm>
            <a:off x="3412617" y="232333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altLang="ko-KR" sz="1200">
                <a:solidFill>
                  <a:srgbClr val="1e293b"/>
                </a:solidFill>
                <a:latin typeface="맑은 고딕"/>
              </a:rPr>
              <a:t>PyTorch Geometric</a:t>
            </a:r>
            <a:endParaRPr lang="en-US" altLang="ko-KR" sz="1200">
              <a:solidFill>
                <a:srgbClr val="1e293b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직사각형 59"/>
          <p:cNvSpPr/>
          <p:nvPr/>
        </p:nvSpPr>
        <p:spPr>
          <a:xfrm>
            <a:off x="0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altLang="ko-KR" sz="2600" b="1">
                <a:solidFill>
                  <a:srgbClr val="ffffff"/>
                </a:solidFill>
                <a:latin typeface="맑은 고딕"/>
              </a:rPr>
              <a:t>8</a:t>
            </a:r>
            <a:r>
              <a:rPr lang="en-US" sz="2600" b="1">
                <a:solidFill>
                  <a:srgbClr val="ffffff"/>
                </a:solidFill>
                <a:latin typeface="맑은 고딕"/>
              </a:rPr>
              <a:t>주 개발 로드맵</a:t>
            </a:r>
            <a:endParaRPr lang="en-US" sz="26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2103120" cy="3886200"/>
          </a:xfrm>
          <a:prstGeom prst="rect">
            <a:avLst/>
          </a:prstGeom>
          <a:solidFill>
            <a:srgbClr val="eff6ff"/>
          </a:solidFill>
          <a:ln w="1524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82880" y="914400"/>
            <a:ext cx="210312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6" name="Text 4"/>
          <p:cNvSpPr/>
          <p:nvPr/>
        </p:nvSpPr>
        <p:spPr>
          <a:xfrm>
            <a:off x="182880" y="914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Phase 1</a:t>
            </a:r>
            <a:endParaRPr lang="en-US" sz="1100" b="1">
              <a:solidFill>
                <a:srgbClr val="ffffff"/>
              </a:solidFill>
              <a:latin typeface="맑은 고딕"/>
            </a:endParaRPr>
          </a:p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기반 구축</a:t>
            </a:r>
            <a:endParaRPr lang="en-US" sz="1100">
              <a:latin typeface="맑은 고딕"/>
            </a:endParaRPr>
          </a:p>
        </p:txBody>
      </p:sp>
      <p:sp>
        <p:nvSpPr>
          <p:cNvPr id="7" name="Text 5"/>
          <p:cNvSpPr/>
          <p:nvPr/>
        </p:nvSpPr>
        <p:spPr>
          <a:xfrm>
            <a:off x="182880" y="12618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맑은 고딕"/>
              </a:rPr>
              <a:t>1~</a:t>
            </a:r>
            <a:r>
              <a:rPr lang="en-US" altLang="ko-KR" sz="1200">
                <a:solidFill>
                  <a:srgbClr val="ffffff"/>
                </a:solidFill>
                <a:latin typeface="맑은 고딕"/>
              </a:rPr>
              <a:t>2</a:t>
            </a:r>
            <a:r>
              <a:rPr lang="en-US" sz="1200">
                <a:solidFill>
                  <a:srgbClr val="ffffff"/>
                </a:solidFill>
                <a:latin typeface="맑은 고딕"/>
              </a:rPr>
              <a:t>주</a:t>
            </a:r>
            <a:endParaRPr lang="en-US" sz="120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4320" y="1627632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0040" y="162763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요구사항·스키마 정의</a:t>
            </a:r>
            <a:endParaRPr lang="en-US" sz="1000">
              <a:latin typeface="맑은 고딕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74320" y="2194560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20040" y="219456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Streamlit + 브이월드 연동</a:t>
            </a:r>
            <a:endParaRPr lang="en-US" sz="1000">
              <a:latin typeface="맑은 고딕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4320" y="2761488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20040" y="276148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DC Power Flow 엔진 구현</a:t>
            </a:r>
            <a:endParaRPr lang="en-US" sz="1000">
              <a:latin typeface="맑은 고딕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74320" y="3328416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0040" y="332841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KPI 대시보드 · 시나리오 구조</a:t>
            </a:r>
            <a:endParaRPr lang="en-US" sz="1000">
              <a:latin typeface="맑은 고딕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286000" y="2834640"/>
            <a:ext cx="109728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 wrap="square"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04288" y="2743200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900">
                <a:solidFill>
                  <a:srgbClr val="2563eb"/>
                </a:solidFill>
                <a:latin typeface="맑은 고딕"/>
              </a:rPr>
              <a:t>▶</a:t>
            </a:r>
            <a:endParaRPr lang="en-US" sz="900">
              <a:latin typeface="맑은 고딕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395728" y="914400"/>
            <a:ext cx="2103120" cy="3886200"/>
          </a:xfrm>
          <a:prstGeom prst="rect">
            <a:avLst/>
          </a:prstGeom>
          <a:solidFill>
            <a:srgbClr val="f0fdfa"/>
          </a:solidFill>
          <a:ln w="1524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395728" y="914400"/>
            <a:ext cx="2103120" cy="5943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395728" y="914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Phase 2</a:t>
            </a:r>
            <a:endParaRPr lang="en-US" sz="1100" b="1">
              <a:solidFill>
                <a:srgbClr val="ffffff"/>
              </a:solidFill>
              <a:latin typeface="맑은 고딕"/>
            </a:endParaRPr>
          </a:p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핵심 시뮬레이터</a:t>
            </a:r>
            <a:endParaRPr lang="en-US" sz="1100">
              <a:latin typeface="맑은 고딕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395728" y="12618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altLang="ko-KR" sz="1200">
                <a:solidFill>
                  <a:srgbClr val="ffffff"/>
                </a:solidFill>
                <a:latin typeface="맑은 고딕"/>
              </a:rPr>
              <a:t>3~4</a:t>
            </a:r>
            <a:r>
              <a:rPr lang="en-US" sz="1200">
                <a:solidFill>
                  <a:srgbClr val="ffffff"/>
                </a:solidFill>
                <a:latin typeface="맑은 고딕"/>
              </a:rPr>
              <a:t>주</a:t>
            </a:r>
            <a:endParaRPr lang="en-US" sz="120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487168" y="1627632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532888" y="162763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사용자 클릭형 설치 기능</a:t>
            </a:r>
            <a:endParaRPr lang="en-US" sz="1000">
              <a:latin typeface="맑은 고딕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2487168" y="2194560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532888" y="219456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A* 탐색 · 추천 3~5개 표시</a:t>
            </a:r>
            <a:endParaRPr lang="en-US" sz="1000">
              <a:latin typeface="맑은 고딕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487168" y="2761488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2532888" y="276148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효율 점수 · 색상 그라데이션</a:t>
            </a:r>
            <a:endParaRPr lang="en-US" sz="1000">
              <a:latin typeface="맑은 고딕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2487168" y="3328416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2532888" y="332841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xAI 설명 텍스트 로직</a:t>
            </a:r>
            <a:endParaRPr lang="en-US" sz="1000">
              <a:latin typeface="맑은 고딕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498848" y="2834640"/>
            <a:ext cx="109728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 wrap="square"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17136" y="2743200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900">
                <a:solidFill>
                  <a:srgbClr val="0891b2"/>
                </a:solidFill>
                <a:latin typeface="맑은 고딕"/>
              </a:rPr>
              <a:t>▶</a:t>
            </a:r>
            <a:endParaRPr lang="en-US" sz="900">
              <a:latin typeface="맑은 고딕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608576" y="914400"/>
            <a:ext cx="2103120" cy="3886200"/>
          </a:xfrm>
          <a:prstGeom prst="rect">
            <a:avLst/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608576" y="914400"/>
            <a:ext cx="2103120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608576" y="914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Phase 3</a:t>
            </a:r>
            <a:endParaRPr lang="en-US" sz="1100" b="1">
              <a:solidFill>
                <a:srgbClr val="ffffff"/>
              </a:solidFill>
              <a:latin typeface="맑은 고딕"/>
            </a:endParaRPr>
          </a:p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AI · 최적화</a:t>
            </a:r>
            <a:endParaRPr lang="en-US" sz="1100">
              <a:latin typeface="맑은 고딕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608576" y="12618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altLang="ko-KR" sz="1200">
                <a:solidFill>
                  <a:srgbClr val="ffffff"/>
                </a:solidFill>
                <a:latin typeface="맑은 고딕"/>
              </a:rPr>
              <a:t>5~7</a:t>
            </a:r>
            <a:r>
              <a:rPr lang="en-US" sz="1200">
                <a:solidFill>
                  <a:srgbClr val="ffffff"/>
                </a:solidFill>
                <a:latin typeface="맑은 고딕"/>
              </a:rPr>
              <a:t>주</a:t>
            </a:r>
            <a:endParaRPr lang="en-US" sz="120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700016" y="1627632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45736" y="162763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LSTM 24h 예측 대시보드</a:t>
            </a:r>
            <a:endParaRPr lang="en-US" sz="1000">
              <a:latin typeface="맑은 고딕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698111" y="2185797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43831" y="2185797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AI 파라미터 추천 기능</a:t>
            </a:r>
            <a:endParaRPr lang="en-US" sz="1000">
              <a:latin typeface="맑은 고딕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698111" y="2752725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4743831" y="2752725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캐시 구조 정리 · UX 개선</a:t>
            </a:r>
            <a:endParaRPr lang="en-US" sz="1000">
              <a:latin typeface="맑은 고딕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6711696" y="2834640"/>
            <a:ext cx="109728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  <p:txBody>
          <a:bodyPr wrap="square"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6729984" y="2743200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900">
                <a:solidFill>
                  <a:srgbClr val="7c3aed"/>
                </a:solidFill>
                <a:latin typeface="맑은 고딕"/>
              </a:rPr>
              <a:t>▶</a:t>
            </a:r>
            <a:endParaRPr lang="en-US" sz="900">
              <a:latin typeface="맑은 고딕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821424" y="914400"/>
            <a:ext cx="2103120" cy="3886200"/>
          </a:xfrm>
          <a:prstGeom prst="rect">
            <a:avLst/>
          </a:prstGeom>
          <a:solidFill>
            <a:srgbClr val="f0fdf4"/>
          </a:solidFill>
          <a:ln w="1524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821424" y="914400"/>
            <a:ext cx="210312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6821424" y="914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Phase 4</a:t>
            </a:r>
            <a:endParaRPr lang="en-US" sz="1100" b="1">
              <a:solidFill>
                <a:srgbClr val="ffffff"/>
              </a:solidFill>
              <a:latin typeface="맑은 고딕"/>
            </a:endParaRPr>
          </a:p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배포 · 마무리</a:t>
            </a:r>
            <a:endParaRPr lang="en-US" sz="1100">
              <a:latin typeface="맑은 고딕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6821424" y="12618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altLang="ko-KR" sz="1200">
                <a:solidFill>
                  <a:srgbClr val="ffffff"/>
                </a:solidFill>
                <a:latin typeface="맑은 고딕"/>
              </a:rPr>
              <a:t>8</a:t>
            </a:r>
            <a:r>
              <a:rPr lang="en-US" sz="1200">
                <a:solidFill>
                  <a:srgbClr val="ffffff"/>
                </a:solidFill>
                <a:latin typeface="맑은 고딕"/>
              </a:rPr>
              <a:t>주</a:t>
            </a:r>
            <a:endParaRPr lang="en-US" sz="120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912864" y="1627632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958584" y="162763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통합 테스트 · 버그 수정</a:t>
            </a:r>
            <a:endParaRPr lang="en-US" sz="1000">
              <a:latin typeface="맑은 고딕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6912864" y="2194560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6958584" y="219456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Streamlit Cloud 배포</a:t>
            </a:r>
            <a:endParaRPr lang="en-US" sz="1000">
              <a:latin typeface="맑은 고딕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6912864" y="2761488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6958584" y="276148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Secrets / VWorld 키 설정</a:t>
            </a:r>
            <a:endParaRPr lang="en-US" sz="1000">
              <a:latin typeface="맑은 고딕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6912864" y="3328416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6958584" y="332841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1e293b"/>
                </a:solidFill>
                <a:latin typeface="맑은 고딕"/>
              </a:rPr>
              <a:t>발표 데모 시나리오 준비</a:t>
            </a:r>
            <a:endParaRPr lang="en-US" sz="1000">
              <a:latin typeface="맑은 고딕"/>
            </a:endParaRPr>
          </a:p>
        </p:txBody>
      </p:sp>
      <p:sp>
        <p:nvSpPr>
          <p:cNvPr id="61" name="Shape 40"/>
          <p:cNvSpPr/>
          <p:nvPr/>
        </p:nvSpPr>
        <p:spPr>
          <a:xfrm>
            <a:off x="4698111" y="3319653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62" name="Text 41"/>
          <p:cNvSpPr/>
          <p:nvPr/>
        </p:nvSpPr>
        <p:spPr>
          <a:xfrm>
            <a:off x="4743831" y="3319653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altLang="ko-KR" sz="1000">
                <a:solidFill>
                  <a:srgbClr val="1e293b"/>
                </a:solidFill>
                <a:latin typeface="맑은 고딕"/>
              </a:rPr>
              <a:t>GNN </a:t>
            </a:r>
            <a:r>
              <a:rPr lang="ko-KR" altLang="en-US" sz="1000">
                <a:solidFill>
                  <a:srgbClr val="1e293b"/>
                </a:solidFill>
                <a:latin typeface="맑은 고딕"/>
              </a:rPr>
              <a:t>모델 학습 및 통합</a:t>
            </a:r>
            <a:endParaRPr lang="ko-KR" altLang="en-US" sz="1000">
              <a:solidFill>
                <a:srgbClr val="1e293b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1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직사각형 67"/>
          <p:cNvSpPr/>
          <p:nvPr/>
        </p:nvSpPr>
        <p:spPr>
          <a:xfrm>
            <a:off x="0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</a:rPr>
              <a:t>기존 도구 대비 차별점</a:t>
            </a:r>
            <a:endParaRPr lang="en-US" sz="2600">
              <a:latin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28600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endParaRPr lang="en-US" sz="1100">
              <a:latin typeface="맑은 고딕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606040" y="914400"/>
            <a:ext cx="173736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7" name="Text 5"/>
          <p:cNvSpPr/>
          <p:nvPr/>
        </p:nvSpPr>
        <p:spPr>
          <a:xfrm>
            <a:off x="2606040" y="914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DIgSILENT</a:t>
            </a:r>
            <a:endParaRPr lang="en-US" sz="1100" b="1">
              <a:solidFill>
                <a:srgbClr val="ffffff"/>
              </a:solidFill>
              <a:latin typeface="맑은 고딕"/>
            </a:endParaRPr>
          </a:p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/ ETAP</a:t>
            </a:r>
            <a:endParaRPr lang="en-US" sz="1100">
              <a:latin typeface="맑은 고딕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9120" y="914400"/>
            <a:ext cx="173736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9" name="Text 7"/>
          <p:cNvSpPr/>
          <p:nvPr/>
        </p:nvSpPr>
        <p:spPr>
          <a:xfrm>
            <a:off x="4389120" y="914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pandapower</a:t>
            </a:r>
            <a:endParaRPr lang="en-US" sz="1100">
              <a:latin typeface="맑은 고딕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72200" y="914400"/>
            <a:ext cx="1828800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172200" y="914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맑은 고딕"/>
              </a:rPr>
              <a:t>SGOP ★</a:t>
            </a:r>
            <a:endParaRPr lang="en-US" sz="1100">
              <a:latin typeface="맑은 고딕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4320" y="1435608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20040" y="14356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정밀 계통해석</a:t>
            </a:r>
            <a:endParaRPr lang="en-US" sz="1050">
              <a:latin typeface="맑은 고딕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606040" y="1435608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651760" y="1435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059669"/>
                </a:solidFill>
                <a:latin typeface="맑은 고딕"/>
              </a:rPr>
              <a:t>✔ 높음</a:t>
            </a:r>
            <a:endParaRPr lang="en-US" sz="1050">
              <a:latin typeface="맑은 고딕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89120" y="1435608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434840" y="1435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059669"/>
                </a:solidFill>
                <a:latin typeface="맑은 고딕"/>
              </a:rPr>
              <a:t>✔ 중간</a:t>
            </a:r>
            <a:endParaRPr lang="en-US" sz="1050">
              <a:latin typeface="맑은 고딕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72200" y="1435608"/>
            <a:ext cx="182880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17920" y="14356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△ 제한적</a:t>
            </a:r>
            <a:endParaRPr lang="en-US" sz="1050">
              <a:latin typeface="맑은 고딕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74320" y="1911096"/>
            <a:ext cx="22860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20040" y="1911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Web UI</a:t>
            </a:r>
            <a:endParaRPr lang="en-US" sz="1050">
              <a:latin typeface="맑은 고딕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606040" y="1911096"/>
            <a:ext cx="173736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651760" y="191109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e25926"/>
                </a:solidFill>
                <a:latin typeface="맑은 고딕"/>
              </a:rPr>
              <a:t>△</a:t>
            </a:r>
            <a:r>
              <a:rPr lang="ko-KR" altLang="en-US" sz="1050">
                <a:solidFill>
                  <a:srgbClr val="e25926"/>
                </a:solidFill>
                <a:latin typeface="맑은 고딕"/>
              </a:rPr>
              <a:t> </a:t>
            </a:r>
            <a:r>
              <a:rPr lang="en-US" altLang="ko-KR" sz="1050">
                <a:solidFill>
                  <a:srgbClr val="e25926"/>
                </a:solidFill>
                <a:latin typeface="맑은 고딕"/>
              </a:rPr>
              <a:t>(</a:t>
            </a:r>
            <a:r>
              <a:rPr lang="en-US" altLang="ko-KR" sz="900">
                <a:solidFill>
                  <a:srgbClr val="e25926"/>
                </a:solidFill>
                <a:latin typeface="맑은 고딕"/>
              </a:rPr>
              <a:t>DIgSILENT, </a:t>
            </a:r>
            <a:r>
              <a:rPr lang="ko-KR" altLang="en-US" sz="900">
                <a:solidFill>
                  <a:srgbClr val="e25926"/>
                </a:solidFill>
                <a:latin typeface="맑은 고딕"/>
              </a:rPr>
              <a:t>스트리밍 한정</a:t>
            </a:r>
            <a:r>
              <a:rPr lang="en-US" altLang="ko-KR" sz="900">
                <a:solidFill>
                  <a:srgbClr val="e25926"/>
                </a:solidFill>
                <a:latin typeface="맑은 고딕"/>
              </a:rPr>
              <a:t>,</a:t>
            </a:r>
            <a:r>
              <a:rPr lang="ko-KR" altLang="en-US" sz="900">
                <a:solidFill>
                  <a:srgbClr val="e25926"/>
                </a:solidFill>
                <a:latin typeface="맑은 고딕"/>
              </a:rPr>
              <a:t> </a:t>
            </a:r>
            <a:r>
              <a:rPr lang="en-US" altLang="ko-KR" sz="900">
                <a:solidFill>
                  <a:srgbClr val="e25926"/>
                </a:solidFill>
                <a:latin typeface="맑은 고딕"/>
              </a:rPr>
              <a:t>ETAP, real-time </a:t>
            </a:r>
            <a:r>
              <a:rPr lang="ko-KR" altLang="en-US" sz="900">
                <a:solidFill>
                  <a:srgbClr val="e25926"/>
                </a:solidFill>
                <a:latin typeface="맑은 고딕"/>
              </a:rPr>
              <a:t>모듈 한정</a:t>
            </a:r>
            <a:r>
              <a:rPr lang="en-US" altLang="ko-KR" sz="1050">
                <a:solidFill>
                  <a:srgbClr val="e25926"/>
                </a:solidFill>
                <a:latin typeface="맑은 고딕"/>
              </a:rPr>
              <a:t>)</a:t>
            </a:r>
            <a:endParaRPr lang="en-US" altLang="ko-KR" sz="1050">
              <a:solidFill>
                <a:srgbClr val="e25926"/>
              </a:solidFill>
              <a:latin typeface="맑은 고딕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389120" y="1911096"/>
            <a:ext cx="173736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434840" y="191109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dc2626"/>
                </a:solidFill>
                <a:latin typeface="맑은 고딕"/>
              </a:rPr>
              <a:t>✕</a:t>
            </a:r>
            <a:endParaRPr lang="en-US" sz="1050">
              <a:latin typeface="맑은 고딕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172200" y="1911096"/>
            <a:ext cx="182880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17920" y="1911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 b="1">
                <a:solidFill>
                  <a:srgbClr val="1d4ed8"/>
                </a:solidFill>
                <a:latin typeface="맑은 고딕"/>
              </a:rPr>
              <a:t>✔</a:t>
            </a:r>
            <a:endParaRPr lang="en-US" sz="1050">
              <a:latin typeface="맑은 고딕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274320" y="2386584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20040" y="2386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지도 연동</a:t>
            </a:r>
            <a:endParaRPr lang="en-US" sz="1050">
              <a:latin typeface="맑은 고딕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2606040" y="2386584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2651760" y="23865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e25926"/>
                </a:solidFill>
                <a:latin typeface="맑은 고딕"/>
              </a:rPr>
              <a:t>△</a:t>
            </a:r>
            <a:endParaRPr lang="en-US" sz="1050">
              <a:solidFill>
                <a:srgbClr val="e25926"/>
              </a:solidFill>
              <a:latin typeface="맑은 고딕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389120" y="2386584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434840" y="23865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e25926"/>
                </a:solidFill>
                <a:latin typeface="맑은 고딕"/>
              </a:rPr>
              <a:t>△</a:t>
            </a:r>
            <a:r>
              <a:rPr lang="ko-KR" altLang="en-US" sz="1050">
                <a:solidFill>
                  <a:srgbClr val="e25926"/>
                </a:solidFill>
                <a:latin typeface="맑은 고딕"/>
              </a:rPr>
              <a:t> </a:t>
            </a:r>
            <a:r>
              <a:rPr lang="en-US" altLang="ko-KR" sz="1050">
                <a:solidFill>
                  <a:srgbClr val="e25926"/>
                </a:solidFill>
                <a:latin typeface="맑은 고딕"/>
              </a:rPr>
              <a:t>(</a:t>
            </a:r>
            <a:r>
              <a:rPr lang="ko-KR" altLang="en-US" sz="1050">
                <a:solidFill>
                  <a:srgbClr val="e25926"/>
                </a:solidFill>
                <a:latin typeface="맑은 고딕"/>
              </a:rPr>
              <a:t>코딩 필요</a:t>
            </a:r>
            <a:r>
              <a:rPr lang="en-US" altLang="ko-KR" sz="1050">
                <a:solidFill>
                  <a:srgbClr val="e25926"/>
                </a:solidFill>
                <a:latin typeface="맑은 고딕"/>
              </a:rPr>
              <a:t>)</a:t>
            </a:r>
            <a:endParaRPr lang="en-US" altLang="ko-KR" sz="1050">
              <a:solidFill>
                <a:srgbClr val="e25926"/>
              </a:solidFill>
              <a:latin typeface="맑은 고딕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172200" y="2386584"/>
            <a:ext cx="182880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217920" y="238658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 b="1">
                <a:solidFill>
                  <a:srgbClr val="1d4ed8"/>
                </a:solidFill>
                <a:latin typeface="맑은 고딕"/>
              </a:rPr>
              <a:t>✔</a:t>
            </a:r>
            <a:r>
              <a:rPr lang="en-US" altLang="ko-KR" sz="1050">
                <a:solidFill>
                  <a:srgbClr val="1e293b"/>
                </a:solidFill>
                <a:latin typeface="맑은 고딕"/>
              </a:rPr>
              <a:t> (Vworld</a:t>
            </a:r>
            <a:r>
              <a:rPr lang="ko-KR" altLang="en-US" sz="1050">
                <a:solidFill>
                  <a:srgbClr val="1e293b"/>
                </a:solidFill>
                <a:latin typeface="맑은 고딕"/>
              </a:rPr>
              <a:t> 연동</a:t>
            </a:r>
            <a:r>
              <a:rPr lang="en-US" altLang="ko-KR" sz="1050">
                <a:solidFill>
                  <a:srgbClr val="1e293b"/>
                </a:solidFill>
                <a:latin typeface="맑은 고딕"/>
              </a:rPr>
              <a:t>)</a:t>
            </a:r>
            <a:endParaRPr lang="en-US" altLang="ko-KR" sz="1050">
              <a:solidFill>
                <a:srgbClr val="1e293b"/>
              </a:solidFill>
              <a:latin typeface="맑은 고딕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274320" y="2862072"/>
            <a:ext cx="22860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320040" y="28620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ko-KR" altLang="en-US" sz="1050">
                <a:solidFill>
                  <a:srgbClr val="1e293b"/>
                </a:solidFill>
                <a:latin typeface="맑은 고딕"/>
              </a:rPr>
              <a:t>웹 기반 클릭형 탐색 설치</a:t>
            </a:r>
            <a:endParaRPr lang="en-US" sz="1050">
              <a:solidFill>
                <a:srgbClr val="1e293b"/>
              </a:solidFill>
              <a:latin typeface="맑은 고딕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2606040" y="2862072"/>
            <a:ext cx="173736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2651760" y="28620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e25926"/>
                </a:solidFill>
                <a:latin typeface="맑은 고딕"/>
              </a:rPr>
              <a:t>△</a:t>
            </a:r>
            <a:r>
              <a:rPr lang="ko-KR" altLang="en-US" sz="1050">
                <a:solidFill>
                  <a:srgbClr val="e25926"/>
                </a:solidFill>
                <a:latin typeface="맑은 고딕"/>
              </a:rPr>
              <a:t> </a:t>
            </a:r>
            <a:r>
              <a:rPr lang="en-US" altLang="ko-KR" sz="1050">
                <a:solidFill>
                  <a:srgbClr val="e25926"/>
                </a:solidFill>
                <a:latin typeface="맑은 고딕"/>
              </a:rPr>
              <a:t>(DIgSILENT, </a:t>
            </a:r>
            <a:r>
              <a:rPr lang="ko-KR" altLang="en-US" sz="1050">
                <a:solidFill>
                  <a:srgbClr val="e25926"/>
                </a:solidFill>
                <a:latin typeface="맑은 고딕"/>
              </a:rPr>
              <a:t>데스크톱 한정</a:t>
            </a:r>
            <a:r>
              <a:rPr lang="en-US" altLang="ko-KR" sz="1050">
                <a:solidFill>
                  <a:srgbClr val="e25926"/>
                </a:solidFill>
                <a:latin typeface="맑은 고딕"/>
              </a:rPr>
              <a:t>)</a:t>
            </a:r>
            <a:endParaRPr lang="en-US" altLang="ko-KR" sz="1050">
              <a:solidFill>
                <a:srgbClr val="e25926"/>
              </a:solidFill>
              <a:latin typeface="맑은 고딕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389120" y="2862072"/>
            <a:ext cx="173736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434840" y="28620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dc2626"/>
                </a:solidFill>
                <a:latin typeface="맑은 고딕"/>
              </a:rPr>
              <a:t>✕</a:t>
            </a:r>
            <a:endParaRPr lang="en-US" sz="1050">
              <a:latin typeface="맑은 고딕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172200" y="2862072"/>
            <a:ext cx="182880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217920" y="28620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 b="1">
                <a:solidFill>
                  <a:srgbClr val="1d4ed8"/>
                </a:solidFill>
                <a:latin typeface="맑은 고딕"/>
              </a:rPr>
              <a:t>✔</a:t>
            </a:r>
            <a:endParaRPr lang="en-US" altLang="ko-KR" sz="1050" b="1">
              <a:solidFill>
                <a:srgbClr val="1d4ed8"/>
              </a:solidFill>
              <a:latin typeface="맑은 고딕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274320" y="3337560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320040" y="3337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AI 추천/설명</a:t>
            </a:r>
            <a:endParaRPr lang="en-US" sz="1050">
              <a:latin typeface="맑은 고딕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2606040" y="3337560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2651760" y="3337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dc2626"/>
                </a:solidFill>
                <a:latin typeface="맑은 고딕"/>
              </a:rPr>
              <a:t>✕</a:t>
            </a:r>
            <a:r>
              <a:rPr lang="ko-KR" altLang="en-US" sz="1050">
                <a:solidFill>
                  <a:srgbClr val="dc2626"/>
                </a:solidFill>
                <a:latin typeface="맑은 고딕"/>
              </a:rPr>
              <a:t> </a:t>
            </a:r>
            <a:r>
              <a:rPr lang="en-US" altLang="ko-KR" sz="1050">
                <a:solidFill>
                  <a:srgbClr val="dc2626"/>
                </a:solidFill>
                <a:latin typeface="맑은 고딕"/>
              </a:rPr>
              <a:t>/</a:t>
            </a:r>
            <a:r>
              <a:rPr lang="ko-KR" altLang="en-US" sz="1050">
                <a:solidFill>
                  <a:srgbClr val="dc2626"/>
                </a:solidFill>
                <a:latin typeface="맑은 고딕"/>
              </a:rPr>
              <a:t> </a:t>
            </a:r>
            <a:r>
              <a:rPr lang="en-US" altLang="ko-KR" sz="1050">
                <a:solidFill>
                  <a:srgbClr val="dc2626"/>
                </a:solidFill>
                <a:latin typeface="맑은 고딕"/>
              </a:rPr>
              <a:t>O (ETAP</a:t>
            </a:r>
            <a:r>
              <a:rPr lang="ko-KR" altLang="en-US" sz="1050">
                <a:solidFill>
                  <a:srgbClr val="dc2626"/>
                </a:solidFill>
                <a:latin typeface="맑은 고딕"/>
              </a:rPr>
              <a:t>은 지원</a:t>
            </a:r>
            <a:r>
              <a:rPr lang="en-US" altLang="ko-KR" sz="1050">
                <a:solidFill>
                  <a:srgbClr val="dc2626"/>
                </a:solidFill>
                <a:latin typeface="맑은 고딕"/>
              </a:rPr>
              <a:t>)</a:t>
            </a:r>
            <a:endParaRPr lang="en-US" altLang="ko-KR" sz="1050">
              <a:solidFill>
                <a:srgbClr val="dc2626"/>
              </a:solidFill>
              <a:latin typeface="맑은 고딕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4389120" y="3337560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4434840" y="3337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dc2626"/>
                </a:solidFill>
                <a:latin typeface="맑은 고딕"/>
              </a:rPr>
              <a:t>✕</a:t>
            </a:r>
            <a:endParaRPr lang="en-US" sz="1050">
              <a:latin typeface="맑은 고딕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172200" y="3337560"/>
            <a:ext cx="182880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217920" y="33375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 b="1">
                <a:solidFill>
                  <a:srgbClr val="1d4ed8"/>
                </a:solidFill>
                <a:latin typeface="맑은 고딕"/>
              </a:rPr>
              <a:t>✔ xAI</a:t>
            </a:r>
            <a:endParaRPr lang="en-US" sz="1050">
              <a:latin typeface="맑은 고딕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274320" y="3813048"/>
            <a:ext cx="22860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" y="38130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부하 예측</a:t>
            </a:r>
            <a:endParaRPr lang="en-US" sz="1050">
              <a:latin typeface="맑은 고딕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2606040" y="3813048"/>
            <a:ext cx="173736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2651760" y="3813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e25926"/>
                </a:solidFill>
                <a:latin typeface="맑은 고딕"/>
              </a:rPr>
              <a:t>△</a:t>
            </a:r>
            <a:r>
              <a:rPr lang="ko-KR" altLang="en-US" sz="1050">
                <a:solidFill>
                  <a:srgbClr val="e25926"/>
                </a:solidFill>
                <a:latin typeface="맑은 고딕"/>
              </a:rPr>
              <a:t> </a:t>
            </a:r>
            <a:r>
              <a:rPr lang="en-US" altLang="ko-KR" sz="1050">
                <a:solidFill>
                  <a:srgbClr val="e25926"/>
                </a:solidFill>
                <a:latin typeface="맑은 고딕"/>
              </a:rPr>
              <a:t>(DIgSILENT, </a:t>
            </a:r>
            <a:r>
              <a:rPr lang="ko-KR" altLang="en-US" sz="1050">
                <a:solidFill>
                  <a:srgbClr val="e25926"/>
                </a:solidFill>
                <a:latin typeface="맑은 고딕"/>
              </a:rPr>
              <a:t>시계열 내장</a:t>
            </a:r>
            <a:r>
              <a:rPr lang="en-US" altLang="ko-KR" sz="1050">
                <a:solidFill>
                  <a:srgbClr val="e25926"/>
                </a:solidFill>
                <a:latin typeface="맑은 고딕"/>
              </a:rPr>
              <a:t>)</a:t>
            </a:r>
            <a:endParaRPr lang="en-US" altLang="ko-KR" sz="1050">
              <a:solidFill>
                <a:srgbClr val="e25926"/>
              </a:solidFill>
              <a:latin typeface="맑은 고딕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4389120" y="3813048"/>
            <a:ext cx="173736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4434840" y="3813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ko-KR" altLang="en-US" sz="1050">
                <a:solidFill>
                  <a:srgbClr val="e25926"/>
                </a:solidFill>
                <a:latin typeface="맑은 고딕"/>
              </a:rPr>
              <a:t>내장됨</a:t>
            </a:r>
            <a:endParaRPr lang="en-US" altLang="ko-KR" sz="1050">
              <a:solidFill>
                <a:srgbClr val="e25926"/>
              </a:solidFill>
              <a:latin typeface="맑은 고딕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6172200" y="3813048"/>
            <a:ext cx="182880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6217920" y="3813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 b="1">
                <a:solidFill>
                  <a:srgbClr val="1d4ed8"/>
                </a:solidFill>
                <a:latin typeface="맑은 고딕"/>
              </a:rPr>
              <a:t>✔ LSTM</a:t>
            </a:r>
            <a:r>
              <a:rPr lang="en-US" altLang="ko-KR" sz="1050" b="1">
                <a:solidFill>
                  <a:srgbClr val="1d4ed8"/>
                </a:solidFill>
                <a:latin typeface="맑은 고딕"/>
              </a:rPr>
              <a:t> </a:t>
            </a:r>
            <a:r>
              <a:rPr lang="en-US" sz="1050" b="1">
                <a:solidFill>
                  <a:srgbClr val="1d4ed8"/>
                </a:solidFill>
                <a:latin typeface="맑은 고딕"/>
              </a:rPr>
              <a:t>통합</a:t>
            </a:r>
            <a:endParaRPr lang="en-US" sz="1050" b="1">
              <a:solidFill>
                <a:srgbClr val="1d4ed8"/>
              </a:solidFill>
              <a:latin typeface="맑은 고딕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274320" y="4288536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320040" y="4288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l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접근성·비용</a:t>
            </a:r>
            <a:endParaRPr lang="en-US" sz="1050">
              <a:latin typeface="맑은 고딕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2606040" y="4288536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2651760" y="42885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dc2626"/>
                </a:solidFill>
                <a:latin typeface="맑은 고딕"/>
              </a:rPr>
              <a:t>✕ 고비용</a:t>
            </a:r>
            <a:endParaRPr lang="en-US" sz="1050">
              <a:latin typeface="맑은 고딕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4389120" y="4288536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4434840" y="42885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>
                <a:solidFill>
                  <a:srgbClr val="059669"/>
                </a:solidFill>
                <a:latin typeface="맑은 고딕"/>
              </a:rPr>
              <a:t>✔ 오픈소스</a:t>
            </a:r>
            <a:endParaRPr lang="en-US" sz="1050">
              <a:latin typeface="맑은 고딕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6172200" y="4288536"/>
            <a:ext cx="182880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6217920" y="42885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050" b="1">
                <a:solidFill>
                  <a:srgbClr val="1d4ed8"/>
                </a:solidFill>
                <a:latin typeface="맑은 고딕"/>
              </a:rPr>
              <a:t>✔ 오픈소스</a:t>
            </a:r>
            <a:endParaRPr lang="en-US" sz="1050">
              <a:latin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직사각형 51"/>
          <p:cNvSpPr/>
          <p:nvPr/>
        </p:nvSpPr>
        <p:spPr>
          <a:xfrm>
            <a:off x="0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</a:rPr>
              <a:t>기대 효과 &amp; 활용 사례</a:t>
            </a:r>
            <a:endParaRPr lang="en-US" sz="2600">
              <a:latin typeface="맑은 고딕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100" b="1">
                <a:solidFill>
                  <a:srgbClr val="64748b"/>
                </a:solidFill>
                <a:latin typeface="맑은 고딕"/>
              </a:rPr>
              <a:t>기대 효과</a:t>
            </a:r>
            <a:endParaRPr lang="en-US" sz="1100">
              <a:latin typeface="맑은 고딕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28600" y="1170432"/>
            <a:ext cx="205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28600" y="1170432"/>
            <a:ext cx="2057400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87552" y="1353312"/>
            <a:ext cx="530352" cy="5303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8600" y="19476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 b="1">
                <a:solidFill>
                  <a:srgbClr val="2563eb"/>
                </a:solidFill>
                <a:latin typeface="맑은 고딕"/>
              </a:rPr>
              <a:t>혼잡 이슈 직관화</a:t>
            </a:r>
            <a:endParaRPr lang="en-US" sz="1200">
              <a:latin typeface="맑은 고딕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02920" y="2359152"/>
            <a:ext cx="1508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11480" y="2487168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76072" y="243230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지도 위 선로 색상으로</a:t>
            </a:r>
            <a:endParaRPr lang="en-US" sz="1050">
              <a:solidFill>
                <a:srgbClr val="1e293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혼잡도 즉시 파악</a:t>
            </a:r>
            <a:endParaRPr lang="en-US" sz="1050">
              <a:latin typeface="맑은 고딕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11480" y="3035808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76072" y="298094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비전문가도 현황</a:t>
            </a:r>
            <a:endParaRPr lang="en-US" sz="1050">
              <a:solidFill>
                <a:srgbClr val="1e293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이해 가능</a:t>
            </a:r>
            <a:endParaRPr lang="en-US" sz="1050">
              <a:latin typeface="맑은 고딕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2441448" y="1170432"/>
            <a:ext cx="205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2441448" y="1170432"/>
            <a:ext cx="2057400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00400" y="1353312"/>
            <a:ext cx="530352" cy="53035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441448" y="19476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 b="1">
                <a:solidFill>
                  <a:srgbClr val="0891b2"/>
                </a:solidFill>
                <a:latin typeface="맑은 고딕"/>
              </a:rPr>
              <a:t>빠른 의사결정 지원</a:t>
            </a:r>
            <a:endParaRPr lang="en-US" sz="1200">
              <a:latin typeface="맑은 고딕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2715768" y="2359152"/>
            <a:ext cx="1508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2624328" y="2487168"/>
            <a:ext cx="91440" cy="914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2788920" y="243230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클릭 한 번으로</a:t>
            </a:r>
            <a:endParaRPr lang="en-US" sz="1050">
              <a:solidFill>
                <a:srgbClr val="1e293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설치 효과 즉시 확인</a:t>
            </a:r>
            <a:endParaRPr lang="en-US" sz="1050">
              <a:latin typeface="맑은 고딕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2624328" y="3035808"/>
            <a:ext cx="91440" cy="914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2788920" y="298094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기존 대비 검토 속도</a:t>
            </a:r>
            <a:endParaRPr lang="en-US" sz="1050">
              <a:solidFill>
                <a:srgbClr val="1e293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획기적 단축</a:t>
            </a:r>
            <a:endParaRPr lang="en-US" sz="1050">
              <a:latin typeface="맑은 고딕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4654296" y="1170432"/>
            <a:ext cx="205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4654296" y="1170432"/>
            <a:ext cx="2057400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413248" y="1353312"/>
            <a:ext cx="530352" cy="530352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654296" y="19476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 b="1">
                <a:solidFill>
                  <a:srgbClr val="7c3aed"/>
                </a:solidFill>
                <a:latin typeface="맑은 고딕"/>
              </a:rPr>
              <a:t>AI 기반 설명 가능성</a:t>
            </a:r>
            <a:endParaRPr lang="en-US" sz="1200">
              <a:latin typeface="맑은 고딕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4928616" y="2359152"/>
            <a:ext cx="1508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4837176" y="2487168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5001768" y="243230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왜 비효율인지</a:t>
            </a:r>
            <a:endParaRPr lang="en-US" sz="1050">
              <a:solidFill>
                <a:srgbClr val="1e293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정량 지표로 설명</a:t>
            </a:r>
            <a:endParaRPr lang="en-US" sz="1050">
              <a:latin typeface="맑은 고딕"/>
            </a:endParaRPr>
          </a:p>
        </p:txBody>
      </p:sp>
      <p:sp>
        <p:nvSpPr>
          <p:cNvPr id="30" name="Shape 25"/>
          <p:cNvSpPr/>
          <p:nvPr/>
        </p:nvSpPr>
        <p:spPr>
          <a:xfrm>
            <a:off x="4837176" y="3035808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5001768" y="298094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추천 근거 투명하게</a:t>
            </a:r>
            <a:endParaRPr lang="en-US" sz="1050">
              <a:solidFill>
                <a:srgbClr val="1e293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제시 (xAI)</a:t>
            </a:r>
            <a:endParaRPr lang="en-US" sz="1050">
              <a:latin typeface="맑은 고딕"/>
            </a:endParaRPr>
          </a:p>
        </p:txBody>
      </p:sp>
      <p:sp>
        <p:nvSpPr>
          <p:cNvPr id="32" name="Shape 27"/>
          <p:cNvSpPr/>
          <p:nvPr/>
        </p:nvSpPr>
        <p:spPr>
          <a:xfrm>
            <a:off x="6867144" y="1170432"/>
            <a:ext cx="205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3" name="Shape 28"/>
          <p:cNvSpPr/>
          <p:nvPr/>
        </p:nvSpPr>
        <p:spPr>
          <a:xfrm>
            <a:off x="6867144" y="1170432"/>
            <a:ext cx="2057400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626096" y="1353312"/>
            <a:ext cx="530352" cy="530352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867144" y="19476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200" b="1">
                <a:solidFill>
                  <a:srgbClr val="059669"/>
                </a:solidFill>
                <a:latin typeface="맑은 고딕"/>
              </a:rPr>
              <a:t>통합 시나리오 분석</a:t>
            </a:r>
            <a:endParaRPr lang="en-US" sz="1200">
              <a:latin typeface="맑은 고딕"/>
            </a:endParaRPr>
          </a:p>
        </p:txBody>
      </p:sp>
      <p:sp>
        <p:nvSpPr>
          <p:cNvPr id="36" name="Shape 30"/>
          <p:cNvSpPr/>
          <p:nvPr/>
        </p:nvSpPr>
        <p:spPr>
          <a:xfrm>
            <a:off x="7141464" y="2359152"/>
            <a:ext cx="1508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7" name="Shape 31"/>
          <p:cNvSpPr/>
          <p:nvPr/>
        </p:nvSpPr>
        <p:spPr>
          <a:xfrm>
            <a:off x="7050024" y="2487168"/>
            <a:ext cx="91440" cy="914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8" name="Text 32"/>
          <p:cNvSpPr/>
          <p:nvPr/>
        </p:nvSpPr>
        <p:spPr>
          <a:xfrm>
            <a:off x="7214616" y="243230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ko-KR" altLang="en-US" sz="1050">
                <a:solidFill>
                  <a:srgbClr val="1e293b"/>
                </a:solidFill>
                <a:latin typeface="맑은 고딕"/>
              </a:rPr>
              <a:t>예측 및 설치안을</a:t>
            </a:r>
            <a:endParaRPr lang="ko-KR" altLang="en-US" sz="1050">
              <a:solidFill>
                <a:srgbClr val="1e293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한 화면에서 비교</a:t>
            </a:r>
            <a:endParaRPr lang="en-US" sz="1050">
              <a:latin typeface="맑은 고딕"/>
            </a:endParaRPr>
          </a:p>
        </p:txBody>
      </p:sp>
      <p:sp>
        <p:nvSpPr>
          <p:cNvPr id="39" name="Shape 33"/>
          <p:cNvSpPr/>
          <p:nvPr/>
        </p:nvSpPr>
        <p:spPr>
          <a:xfrm>
            <a:off x="7050024" y="3035808"/>
            <a:ext cx="91440" cy="914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0" name="Text 34"/>
          <p:cNvSpPr/>
          <p:nvPr/>
        </p:nvSpPr>
        <p:spPr>
          <a:xfrm>
            <a:off x="7214616" y="298094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다중 대안 저장 후</a:t>
            </a:r>
            <a:endParaRPr lang="en-US" sz="1050">
              <a:solidFill>
                <a:srgbClr val="1e293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50">
                <a:solidFill>
                  <a:srgbClr val="1e293b"/>
                </a:solidFill>
                <a:latin typeface="맑은 고딕"/>
              </a:rPr>
              <a:t>객관적 수치 비교</a:t>
            </a:r>
            <a:endParaRPr lang="en-US" sz="1050">
              <a:latin typeface="맑은 고딕"/>
            </a:endParaRPr>
          </a:p>
        </p:txBody>
      </p:sp>
      <p:sp>
        <p:nvSpPr>
          <p:cNvPr id="41" name="Shape 35"/>
          <p:cNvSpPr/>
          <p:nvPr/>
        </p:nvSpPr>
        <p:spPr>
          <a:xfrm>
            <a:off x="228600" y="3840480"/>
            <a:ext cx="8686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2" name="Shape 36"/>
          <p:cNvSpPr/>
          <p:nvPr/>
        </p:nvSpPr>
        <p:spPr>
          <a:xfrm>
            <a:off x="228600" y="3840480"/>
            <a:ext cx="164592" cy="1188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43" name="Text 37"/>
          <p:cNvSpPr/>
          <p:nvPr/>
        </p:nvSpPr>
        <p:spPr>
          <a:xfrm>
            <a:off x="502920" y="3886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200" b="1">
                <a:solidFill>
                  <a:srgbClr val="1b2a4a"/>
                </a:solidFill>
                <a:latin typeface="맑은 고딕"/>
              </a:rPr>
              <a:t>활용 사례</a:t>
            </a:r>
            <a:endParaRPr lang="en-US" sz="1200">
              <a:latin typeface="맑은 고딕"/>
            </a:endParaRPr>
          </a:p>
        </p:txBody>
      </p:sp>
      <p:sp>
        <p:nvSpPr>
          <p:cNvPr id="44" name="Text 38"/>
          <p:cNvSpPr/>
          <p:nvPr/>
        </p:nvSpPr>
        <p:spPr>
          <a:xfrm>
            <a:off x="50292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100" b="1">
                <a:solidFill>
                  <a:srgbClr val="1e293b"/>
                </a:solidFill>
                <a:latin typeface="맑은 고딕"/>
              </a:rPr>
              <a:t>🎓 </a:t>
            </a:r>
            <a:r>
              <a:rPr lang="ko-KR" altLang="en-US" sz="1100" b="1">
                <a:solidFill>
                  <a:srgbClr val="1e293b"/>
                </a:solidFill>
                <a:latin typeface="맑은 고딕"/>
              </a:rPr>
              <a:t> </a:t>
            </a:r>
            <a:r>
              <a:rPr lang="en-US" sz="1100" b="1">
                <a:solidFill>
                  <a:srgbClr val="1e293b"/>
                </a:solidFill>
                <a:latin typeface="맑은 고딕"/>
              </a:rPr>
              <a:t>교육용 시뮬레이터</a:t>
            </a:r>
            <a:endParaRPr lang="en-US" sz="1100" b="1">
              <a:solidFill>
                <a:srgbClr val="1e293b"/>
              </a:solidFill>
              <a:latin typeface="맑은 고딕"/>
            </a:endParaRPr>
          </a:p>
        </p:txBody>
      </p:sp>
      <p:sp>
        <p:nvSpPr>
          <p:cNvPr id="45" name="Text 39"/>
          <p:cNvSpPr/>
          <p:nvPr/>
        </p:nvSpPr>
        <p:spPr>
          <a:xfrm>
            <a:off x="502920" y="4507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64748b"/>
                </a:solidFill>
                <a:latin typeface="맑은 고딕"/>
              </a:rPr>
              <a:t>전력계통 수업·연구 실습에서</a:t>
            </a:r>
            <a:endParaRPr lang="en-US" sz="1000">
              <a:solidFill>
                <a:srgbClr val="64748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00">
                <a:solidFill>
                  <a:srgbClr val="64748b"/>
                </a:solidFill>
                <a:latin typeface="맑은 고딕"/>
              </a:rPr>
              <a:t>송전망 혼잡과 증설 전략 실습</a:t>
            </a:r>
            <a:endParaRPr lang="en-US" sz="1000">
              <a:latin typeface="맑은 고딕"/>
            </a:endParaRPr>
          </a:p>
        </p:txBody>
      </p:sp>
      <p:sp>
        <p:nvSpPr>
          <p:cNvPr id="46" name="Text 40"/>
          <p:cNvSpPr/>
          <p:nvPr/>
        </p:nvSpPr>
        <p:spPr>
          <a:xfrm>
            <a:off x="265176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100" b="1">
                <a:solidFill>
                  <a:srgbClr val="1e293b"/>
                </a:solidFill>
                <a:latin typeface="맑은 고딕"/>
              </a:rPr>
              <a:t>🔍 </a:t>
            </a:r>
            <a:r>
              <a:rPr lang="ko-KR" altLang="en-US" sz="1100" b="1">
                <a:solidFill>
                  <a:srgbClr val="1e293b"/>
                </a:solidFill>
                <a:latin typeface="맑은 고딕"/>
              </a:rPr>
              <a:t> </a:t>
            </a:r>
            <a:r>
              <a:rPr lang="en-US" sz="1100" b="1">
                <a:solidFill>
                  <a:srgbClr val="1e293b"/>
                </a:solidFill>
                <a:latin typeface="맑은 고딕"/>
              </a:rPr>
              <a:t>예비 검토 도구</a:t>
            </a:r>
            <a:endParaRPr lang="en-US" sz="1100" b="1">
              <a:solidFill>
                <a:srgbClr val="1e293b"/>
              </a:solidFill>
              <a:latin typeface="맑은 고딕"/>
            </a:endParaRPr>
          </a:p>
        </p:txBody>
      </p:sp>
      <p:sp>
        <p:nvSpPr>
          <p:cNvPr id="47" name="Text 41"/>
          <p:cNvSpPr/>
          <p:nvPr/>
        </p:nvSpPr>
        <p:spPr>
          <a:xfrm>
            <a:off x="2651760" y="4507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000">
                <a:solidFill>
                  <a:srgbClr val="64748b"/>
                </a:solidFill>
                <a:latin typeface="맑은 고딕"/>
              </a:rPr>
              <a:t>특정 지역 신규 송전탑</a:t>
            </a:r>
            <a:endParaRPr lang="en-US" sz="1000">
              <a:solidFill>
                <a:srgbClr val="64748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00">
                <a:solidFill>
                  <a:srgbClr val="64748b"/>
                </a:solidFill>
                <a:latin typeface="맑은 고딕"/>
              </a:rPr>
              <a:t>설치 후보지 빠른 비교 검토</a:t>
            </a:r>
            <a:endParaRPr lang="en-US" sz="1000">
              <a:latin typeface="맑은 고딕"/>
            </a:endParaRPr>
          </a:p>
        </p:txBody>
      </p:sp>
      <p:sp>
        <p:nvSpPr>
          <p:cNvPr id="48" name="Text 42"/>
          <p:cNvSpPr/>
          <p:nvPr/>
        </p:nvSpPr>
        <p:spPr>
          <a:xfrm>
            <a:off x="480060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100" b="1">
                <a:solidFill>
                  <a:srgbClr val="1e293b"/>
                </a:solidFill>
                <a:latin typeface="맑은 고딕"/>
              </a:rPr>
              <a:t>📊 </a:t>
            </a:r>
            <a:r>
              <a:rPr lang="ko-KR" altLang="en-US" sz="1100" b="1">
                <a:solidFill>
                  <a:srgbClr val="1e293b"/>
                </a:solidFill>
                <a:latin typeface="맑은 고딕"/>
              </a:rPr>
              <a:t> </a:t>
            </a:r>
            <a:r>
              <a:rPr lang="en-US" sz="1100" b="1">
                <a:solidFill>
                  <a:srgbClr val="1e293b"/>
                </a:solidFill>
                <a:latin typeface="맑은 고딕"/>
              </a:rPr>
              <a:t>발표용 프로토타입</a:t>
            </a:r>
            <a:endParaRPr lang="en-US" sz="1100" b="1">
              <a:solidFill>
                <a:srgbClr val="1e293b"/>
              </a:solidFill>
              <a:latin typeface="맑은 고딕"/>
            </a:endParaRPr>
          </a:p>
        </p:txBody>
      </p:sp>
      <p:sp>
        <p:nvSpPr>
          <p:cNvPr id="49" name="Text 43"/>
          <p:cNvSpPr/>
          <p:nvPr/>
        </p:nvSpPr>
        <p:spPr>
          <a:xfrm>
            <a:off x="4800600" y="4507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ko-KR" altLang="en-US" sz="1000">
                <a:solidFill>
                  <a:srgbClr val="64748b"/>
                </a:solidFill>
                <a:latin typeface="맑은 고딕"/>
              </a:rPr>
              <a:t>에너지 컨설팅 스타트업 기업의</a:t>
            </a:r>
            <a:r>
              <a:rPr lang="en-US" sz="1000">
                <a:solidFill>
                  <a:srgbClr val="64748b"/>
                </a:solidFill>
                <a:latin typeface="맑은 고딕"/>
              </a:rPr>
              <a:t> </a:t>
            </a:r>
            <a:endParaRPr lang="en-US" sz="1000">
              <a:solidFill>
                <a:srgbClr val="64748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00">
                <a:solidFill>
                  <a:srgbClr val="64748b"/>
                </a:solidFill>
                <a:latin typeface="맑은 고딕"/>
              </a:rPr>
              <a:t>스마트그리드</a:t>
            </a:r>
            <a:r>
              <a:rPr lang="ko-KR" altLang="en-US" sz="1000">
                <a:solidFill>
                  <a:srgbClr val="64748b"/>
                </a:solidFill>
                <a:latin typeface="맑은 고딕"/>
              </a:rPr>
              <a:t> </a:t>
            </a:r>
            <a:r>
              <a:rPr lang="en-US" sz="1000">
                <a:solidFill>
                  <a:srgbClr val="64748b"/>
                </a:solidFill>
                <a:latin typeface="맑은 고딕"/>
              </a:rPr>
              <a:t>아이디어를 </a:t>
            </a:r>
            <a:endParaRPr lang="en-US" sz="1000">
              <a:solidFill>
                <a:srgbClr val="64748b"/>
              </a:solidFill>
              <a:latin typeface="맑은 고딕"/>
            </a:endParaRPr>
          </a:p>
          <a:p>
            <a:pPr marL="0" lvl="0" indent="0">
              <a:buNone/>
              <a:defRPr/>
            </a:pPr>
            <a:r>
              <a:rPr lang="en-US" sz="1000">
                <a:solidFill>
                  <a:srgbClr val="64748b"/>
                </a:solidFill>
                <a:latin typeface="맑은 고딕"/>
              </a:rPr>
              <a:t>지도로 시각화</a:t>
            </a:r>
            <a:endParaRPr lang="en-US" sz="1000">
              <a:solidFill>
                <a:srgbClr val="64748b"/>
              </a:solidFill>
              <a:latin typeface="맑은 고딕"/>
            </a:endParaRPr>
          </a:p>
        </p:txBody>
      </p:sp>
      <p:sp>
        <p:nvSpPr>
          <p:cNvPr id="50" name="Text 44"/>
          <p:cNvSpPr/>
          <p:nvPr/>
        </p:nvSpPr>
        <p:spPr>
          <a:xfrm>
            <a:off x="694944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100" b="1">
                <a:solidFill>
                  <a:srgbClr val="1e293b"/>
                </a:solidFill>
                <a:latin typeface="맑은 고딕"/>
              </a:rPr>
              <a:t>🚀 </a:t>
            </a:r>
            <a:r>
              <a:rPr lang="ko-KR" altLang="en-US" sz="1100" b="1">
                <a:solidFill>
                  <a:srgbClr val="1e293b"/>
                </a:solidFill>
                <a:latin typeface="맑은 고딕"/>
              </a:rPr>
              <a:t> </a:t>
            </a:r>
            <a:r>
              <a:rPr lang="en-US" sz="1100" b="1">
                <a:solidFill>
                  <a:srgbClr val="1e293b"/>
                </a:solidFill>
                <a:latin typeface="맑은 고딕"/>
              </a:rPr>
              <a:t>확장 가능</a:t>
            </a:r>
            <a:r>
              <a:rPr lang="ko-KR" altLang="en-US" sz="1100" b="1">
                <a:solidFill>
                  <a:srgbClr val="1e293b"/>
                </a:solidFill>
                <a:latin typeface="맑은 고딕"/>
              </a:rPr>
              <a:t> 여부</a:t>
            </a:r>
            <a:endParaRPr lang="ko-KR" altLang="en-US" sz="1100" b="1">
              <a:solidFill>
                <a:srgbClr val="1e293b"/>
              </a:solidFill>
              <a:latin typeface="맑은 고딕"/>
            </a:endParaRPr>
          </a:p>
        </p:txBody>
      </p:sp>
      <p:sp>
        <p:nvSpPr>
          <p:cNvPr id="51" name="Text 45"/>
          <p:cNvSpPr/>
          <p:nvPr/>
        </p:nvSpPr>
        <p:spPr>
          <a:xfrm>
            <a:off x="6949440" y="4507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ko-KR" altLang="en-US" sz="1000">
                <a:solidFill>
                  <a:srgbClr val="64748b"/>
                </a:solidFill>
                <a:latin typeface="맑은 고딕"/>
              </a:rPr>
              <a:t>전력시장 경제성 분석</a:t>
            </a:r>
            <a:r>
              <a:rPr lang="en-US" altLang="ko-KR" sz="1000">
                <a:solidFill>
                  <a:srgbClr val="64748b"/>
                </a:solidFill>
                <a:latin typeface="맑은 고딕"/>
              </a:rPr>
              <a:t>,</a:t>
            </a:r>
            <a:r>
              <a:rPr lang="ko-KR" altLang="en-US" sz="1000">
                <a:solidFill>
                  <a:srgbClr val="64748b"/>
                </a:solidFill>
                <a:latin typeface="맑은 고딕"/>
              </a:rPr>
              <a:t> 노드 확장</a:t>
            </a:r>
            <a:r>
              <a:rPr lang="en-US" altLang="ko-KR" sz="1000">
                <a:solidFill>
                  <a:srgbClr val="64748b"/>
                </a:solidFill>
                <a:latin typeface="맑은 고딕"/>
              </a:rPr>
              <a:t>,</a:t>
            </a:r>
            <a:r>
              <a:rPr lang="ko-KR" altLang="en-US" sz="1000">
                <a:solidFill>
                  <a:srgbClr val="64748b"/>
                </a:solidFill>
                <a:latin typeface="맑은 고딕"/>
              </a:rPr>
              <a:t> 다지역 시나리오 간단한 비교 가능</a:t>
            </a:r>
            <a:endParaRPr lang="ko-KR" altLang="en-US" sz="1000">
              <a:solidFill>
                <a:srgbClr val="64748b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3">
    <p:bg>
      <p:bgPr shadeToTitle="0"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/>
          <p:cNvSpPr/>
          <p:nvPr/>
        </p:nvSpPr>
        <p:spPr>
          <a:xfrm>
            <a:off x="-2591" y="0"/>
            <a:ext cx="9146592" cy="52082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>
              <a:latin typeface="맑은 고딕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2213a"/>
          </a:solidFill>
          <a:ln w="12700">
            <a:solidFill>
              <a:srgbClr val="12213a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</a:rPr>
              <a:t>결론 및 요약</a:t>
            </a:r>
            <a:endParaRPr lang="en-US" sz="2600">
              <a:latin typeface="맑은 고딕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74320" y="914400"/>
            <a:ext cx="8595360" cy="607825"/>
          </a:xfrm>
          <a:prstGeom prst="rect">
            <a:avLst/>
          </a:prstGeom>
          <a:solidFill>
            <a:srgbClr val="243b55"/>
          </a:solidFill>
          <a:ln w="1905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" y="960120"/>
            <a:ext cx="8340455" cy="56210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700">
                <a:solidFill>
                  <a:schemeClr val="lt1"/>
                </a:solidFill>
                <a:latin typeface="맑은 고딕"/>
              </a:rPr>
              <a:t>SGOP는 </a:t>
            </a:r>
            <a:r>
              <a:rPr lang="ko-KR" altLang="en-US" sz="1700">
                <a:solidFill>
                  <a:schemeClr val="lt1"/>
                </a:solidFill>
                <a:latin typeface="맑은 고딕"/>
              </a:rPr>
              <a:t>정밀 계통 해석 도구의 대체제가 아니다</a:t>
            </a:r>
            <a:r>
              <a:rPr lang="en-US" altLang="ko-KR" sz="1700">
                <a:solidFill>
                  <a:schemeClr val="lt1"/>
                </a:solidFill>
                <a:latin typeface="맑은 고딕"/>
              </a:rPr>
              <a:t>.</a:t>
            </a:r>
            <a:endParaRPr lang="en-US" altLang="ko-KR" sz="1700">
              <a:solidFill>
                <a:schemeClr val="lt1"/>
              </a:solidFill>
              <a:latin typeface="맑은 고딕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74320" y="1990980"/>
            <a:ext cx="109728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400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02920" y="19909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ko-KR" altLang="en-US" sz="1400">
                <a:solidFill>
                  <a:schemeClr val="dk1"/>
                </a:solidFill>
                <a:latin typeface="맑은 고딕"/>
              </a:rPr>
              <a:t>브라우저만으로 접근 가능</a:t>
            </a:r>
            <a:endParaRPr lang="en-US" sz="1400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74319" y="3191256"/>
            <a:ext cx="109728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400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02919" y="3191256"/>
            <a:ext cx="7848808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>
                <a:solidFill>
                  <a:schemeClr val="dk1"/>
                </a:solidFill>
                <a:latin typeface="맑은 고딕"/>
              </a:rPr>
              <a:t>DC Power Flow + LSTM</a:t>
            </a:r>
            <a:r>
              <a:rPr lang="ko-KR" altLang="en-US" sz="1400">
                <a:solidFill>
                  <a:schemeClr val="dk1"/>
                </a:solidFill>
                <a:latin typeface="맑은 고딕"/>
              </a:rPr>
              <a:t> </a:t>
            </a:r>
            <a:r>
              <a:rPr lang="en-US" altLang="ko-KR" sz="1400">
                <a:solidFill>
                  <a:schemeClr val="dk1"/>
                </a:solidFill>
                <a:latin typeface="맑은 고딕"/>
              </a:rPr>
              <a:t>+</a:t>
            </a:r>
            <a:r>
              <a:rPr lang="ko-KR" altLang="en-US" sz="1400">
                <a:solidFill>
                  <a:schemeClr val="dk1"/>
                </a:solidFill>
                <a:latin typeface="맑은 고딕"/>
              </a:rPr>
              <a:t> </a:t>
            </a:r>
            <a:r>
              <a:rPr lang="en-US" altLang="ko-KR" sz="1400">
                <a:solidFill>
                  <a:schemeClr val="dk1"/>
                </a:solidFill>
                <a:latin typeface="맑은 고딕"/>
              </a:rPr>
              <a:t>GNN </a:t>
            </a:r>
            <a:r>
              <a:rPr lang="en-US" sz="1400">
                <a:solidFill>
                  <a:schemeClr val="dk1"/>
                </a:solidFill>
                <a:latin typeface="맑은 고딕"/>
              </a:rPr>
              <a:t>통합 엔진</a:t>
            </a:r>
            <a:r>
              <a:rPr lang="ko-KR" altLang="en-US" sz="1400">
                <a:solidFill>
                  <a:schemeClr val="dk1"/>
                </a:solidFill>
                <a:latin typeface="맑은 고딕"/>
              </a:rPr>
              <a:t>으로 물리적 검증</a:t>
            </a:r>
            <a:r>
              <a:rPr lang="en-US" altLang="ko-KR" sz="1400">
                <a:solidFill>
                  <a:schemeClr val="dk1"/>
                </a:solidFill>
                <a:latin typeface="맑은 고딕"/>
              </a:rPr>
              <a:t>,</a:t>
            </a:r>
            <a:r>
              <a:rPr lang="ko-KR" altLang="en-US" sz="1400">
                <a:solidFill>
                  <a:schemeClr val="dk1"/>
                </a:solidFill>
                <a:latin typeface="맑은 고딕"/>
              </a:rPr>
              <a:t> 부하 예측</a:t>
            </a:r>
            <a:r>
              <a:rPr lang="en-US" altLang="ko-KR" sz="1400">
                <a:solidFill>
                  <a:schemeClr val="dk1"/>
                </a:solidFill>
                <a:latin typeface="맑은 고딕"/>
              </a:rPr>
              <a:t>, </a:t>
            </a:r>
            <a:r>
              <a:rPr lang="ko-KR" altLang="en-US" sz="1400">
                <a:solidFill>
                  <a:schemeClr val="dk1"/>
                </a:solidFill>
                <a:latin typeface="맑은 고딕"/>
              </a:rPr>
              <a:t>설치점 추천이 가능</a:t>
            </a:r>
            <a:endParaRPr lang="ko-KR" altLang="en-US" sz="1400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74319" y="3809681"/>
            <a:ext cx="109728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400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02919" y="3809681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en-US" sz="1400">
                <a:solidFill>
                  <a:schemeClr val="dk1"/>
                </a:solidFill>
                <a:latin typeface="맑은 고딕"/>
              </a:rPr>
              <a:t>AI는 판단을 보조 — 최종 결과는 결정론적 엔진이 검증</a:t>
            </a:r>
            <a:endParaRPr lang="en-US" sz="1400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75082" y="2591118"/>
            <a:ext cx="109728" cy="3474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ko-KR" altLang="en-US" sz="1400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03682" y="259111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>
              <a:buNone/>
              <a:defRPr/>
            </a:pPr>
            <a:r>
              <a:rPr lang="ko-KR" altLang="en-US" sz="1400">
                <a:solidFill>
                  <a:schemeClr val="dk1"/>
                </a:solidFill>
                <a:latin typeface="맑은 고딕"/>
              </a:rPr>
              <a:t>탐색</a:t>
            </a:r>
            <a:r>
              <a:rPr lang="en-US" altLang="ko-KR" sz="1400">
                <a:solidFill>
                  <a:schemeClr val="dk1"/>
                </a:solidFill>
                <a:latin typeface="맑은 고딕"/>
              </a:rPr>
              <a:t>,</a:t>
            </a:r>
            <a:r>
              <a:rPr lang="ko-KR" altLang="en-US" sz="1400">
                <a:solidFill>
                  <a:schemeClr val="dk1"/>
                </a:solidFill>
                <a:latin typeface="맑은 고딕"/>
              </a:rPr>
              <a:t> </a:t>
            </a:r>
            <a:r>
              <a:rPr lang="en-US" altLang="ko-KR" sz="1400">
                <a:solidFill>
                  <a:schemeClr val="dk1"/>
                </a:solidFill>
                <a:latin typeface="맑은 고딕"/>
              </a:rPr>
              <a:t>PT </a:t>
            </a:r>
            <a:r>
              <a:rPr lang="ko-KR" altLang="en-US" sz="1400">
                <a:solidFill>
                  <a:schemeClr val="dk1"/>
                </a:solidFill>
                <a:latin typeface="맑은 고딕"/>
              </a:rPr>
              <a:t>데모</a:t>
            </a:r>
            <a:r>
              <a:rPr lang="en-US" altLang="ko-KR" sz="1400">
                <a:solidFill>
                  <a:schemeClr val="dk1"/>
                </a:solidFill>
                <a:latin typeface="맑은 고딕"/>
              </a:rPr>
              <a:t>,</a:t>
            </a:r>
            <a:r>
              <a:rPr lang="ko-KR" altLang="en-US" sz="1400">
                <a:solidFill>
                  <a:schemeClr val="dk1"/>
                </a:solidFill>
                <a:latin typeface="맑은 고딕"/>
              </a:rPr>
              <a:t> 교육에 최적화</a:t>
            </a:r>
            <a:endParaRPr lang="ko-KR" altLang="en-US" sz="1400">
              <a:solidFill>
                <a:schemeClr val="dk1"/>
              </a:solidFill>
              <a:latin typeface="맑은 고딕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274320" y="4526280"/>
            <a:ext cx="85953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 anchor="ctr"/>
          <a:p>
            <a:pPr lvl="0" algn="ctr">
              <a:defRPr/>
            </a:pPr>
            <a:endParaRPr lang="en-US" altLang="ko-KR">
              <a:latin typeface="맑은 고딕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274320" y="452628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lv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맑은 고딕"/>
              </a:rPr>
              <a:t>"클릭 한 번으로 가설을 세우고, AI가 설명하며, 엔진이 검증합니다."</a:t>
            </a:r>
            <a:endParaRPr lang="en-US" sz="1300">
              <a:latin typeface="맑은 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840</ep:Words>
  <ep:PresentationFormat>On-screen Show (16:9)</ep:PresentationFormat>
  <ep:Paragraphs>483</ep:Paragraphs>
  <ep:Slides>12</ep:Slides>
  <ep:Notes>12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ep:HeadingPairs>
  <ep:TitlesOfParts>
    <vt:vector size="13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2026-04-10T04:41:15.000</dcterms:created>
  <dc:creator>팀 石4</dc:creator>
  <cp:lastModifiedBy>smp05</cp:lastModifiedBy>
  <dcterms:modified xsi:type="dcterms:W3CDTF">2026-04-10T07:34:13.839</dcterms:modified>
  <cp:revision>54</cp:revision>
  <dc:subject>PptxGenJS Presentation</dc:subject>
  <dc:title>SGOP - Smart Grid Optimization Platform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