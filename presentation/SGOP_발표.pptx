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3" r:id="rId8"/>
    <p:sldId id="264" r:id="rId9"/>
    <p:sldId id="265" r:id="rId10"/>
    <p:sldId id="267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  <p:guideLst>
        <p:guide orient="horz" pos="161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presProps" Target="presProps.xml"  /><Relationship Id="rId13" Type="http://schemas.openxmlformats.org/officeDocument/2006/relationships/viewProps" Target="viewProps.xml"  /><Relationship Id="rId14" Type="http://schemas.openxmlformats.org/officeDocument/2006/relationships/theme" Target="theme/theme1.xml"  /><Relationship Id="rId15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Relationship Id="rId6" Type="http://schemas.openxmlformats.org/officeDocument/2006/relationships/image" Target="../media/image8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270721" y="3280410"/>
            <a:ext cx="164592" cy="164592"/>
          </a:xfrm>
          <a:prstGeom prst="ellipse">
            <a:avLst/>
          </a:prstGeom>
          <a:solidFill>
            <a:srgbClr val="baff1a">
              <a:alpha val="30000"/>
            </a:srgbClr>
          </a:solidFill>
          <a:ln w="381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96328" y="3323844"/>
            <a:ext cx="164592" cy="164592"/>
          </a:xfrm>
          <a:prstGeom prst="ellipse">
            <a:avLst/>
          </a:prstGeom>
          <a:solidFill>
            <a:srgbClr val="008000">
              <a:alpha val="30000"/>
            </a:srgbClr>
          </a:solidFill>
          <a:ln w="381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91805" y="2971800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381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33488" y="1207008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381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09509" y="3493008"/>
            <a:ext cx="164592" cy="164592"/>
          </a:xfrm>
          <a:prstGeom prst="ellipse">
            <a:avLst/>
          </a:prstGeom>
          <a:solidFill>
            <a:srgbClr val="008000">
              <a:alpha val="30000"/>
            </a:srgbClr>
          </a:solidFill>
          <a:ln w="381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68896" y="1977617"/>
            <a:ext cx="164592" cy="164592"/>
          </a:xfrm>
          <a:prstGeom prst="ellipse">
            <a:avLst/>
          </a:prstGeom>
          <a:solidFill>
            <a:srgbClr val="e25926">
              <a:alpha val="30000"/>
            </a:srgbClr>
          </a:solidFill>
          <a:ln w="381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15784" y="2702052"/>
            <a:ext cx="164592" cy="164592"/>
          </a:xfrm>
          <a:prstGeom prst="ellipse">
            <a:avLst/>
          </a:prstGeom>
          <a:solidFill>
            <a:srgbClr val="ff0000">
              <a:alpha val="30000"/>
            </a:srgbClr>
          </a:solidFill>
          <a:ln w="381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71816" y="1783080"/>
            <a:ext cx="164592" cy="164592"/>
          </a:xfrm>
          <a:prstGeom prst="ellipse">
            <a:avLst/>
          </a:prstGeom>
          <a:solidFill>
            <a:srgbClr val="ff6600">
              <a:alpha val="30000"/>
            </a:srgbClr>
          </a:solidFill>
          <a:ln w="381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35313" y="1614371"/>
            <a:ext cx="164592" cy="164592"/>
          </a:xfrm>
          <a:prstGeom prst="ellipse">
            <a:avLst/>
          </a:prstGeom>
          <a:solidFill>
            <a:srgbClr val="ff0000">
              <a:alpha val="30000"/>
            </a:srgbClr>
          </a:solidFill>
          <a:ln w="381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91805" y="1371600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381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09509" y="2331720"/>
            <a:ext cx="164592" cy="164592"/>
          </a:xfrm>
          <a:prstGeom prst="ellipse">
            <a:avLst/>
          </a:prstGeom>
          <a:solidFill>
            <a:srgbClr val="e25926">
              <a:alpha val="30000"/>
            </a:srgbClr>
          </a:solidFill>
          <a:ln w="381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99248" y="3108960"/>
            <a:ext cx="164592" cy="164592"/>
          </a:xfrm>
          <a:prstGeom prst="ellipse">
            <a:avLst/>
          </a:prstGeom>
          <a:solidFill>
            <a:srgbClr val="008000">
              <a:alpha val="30000"/>
            </a:srgbClr>
          </a:solidFill>
          <a:ln w="381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7609" y="2773145"/>
            <a:ext cx="164592" cy="164592"/>
          </a:xfrm>
          <a:prstGeom prst="ellipse">
            <a:avLst/>
          </a:prstGeom>
          <a:solidFill>
            <a:srgbClr val="ff6600">
              <a:alpha val="30000"/>
            </a:srgbClr>
          </a:solidFill>
          <a:ln w="381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0721" y="2208789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381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3017" y="4087368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381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1544" y="2423160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381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1444752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6800" b="1">
                <a:solidFill>
                  <a:schemeClr val="tx1"/>
                </a:solidFill>
              </a:rPr>
              <a:t>SGOP</a:t>
            </a:r>
            <a:endParaRPr lang="en-US" sz="6800">
              <a:solidFill>
                <a:schemeClr val="tx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2920" y="2423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6B6D4"/>
                </a:solidFill>
              </a:rPr>
              <a:t>Smart Grid Optimization Platform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" y="29718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400">
                <a:solidFill>
                  <a:schemeClr val="tx1"/>
                </a:solidFill>
                <a:latin typeface="맑은 고딕"/>
                <a:ea typeface="맑은 고딕"/>
              </a:rPr>
              <a:t>웹 기반 한국 송전망 혼잡도 모니터링 및</a:t>
            </a:r>
            <a:endParaRPr lang="en-US" sz="14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0" lvl="0" indent="0" algn="l">
              <a:buNone/>
              <a:defRPr/>
            </a:pPr>
            <a:r>
              <a:rPr lang="en-US" sz="1400">
                <a:solidFill>
                  <a:schemeClr val="tx1"/>
                </a:solidFill>
                <a:latin typeface="맑은 고딕"/>
                <a:ea typeface="맑은 고딕"/>
              </a:rPr>
              <a:t>신규 송전탑 최적 설치점 제안 시뮬레이터</a:t>
            </a:r>
            <a:endParaRPr lang="en-US" sz="140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3794760"/>
            <a:ext cx="41148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200">
                <a:solidFill>
                  <a:schemeClr val="tx1"/>
                </a:solidFill>
                <a:latin typeface="맑은 고딕"/>
                <a:ea typeface="맑은 고딕"/>
              </a:rPr>
              <a:t>권나현  ·  김도림  ·  김동근  ·  박차오름    |    컴퓨터공학과</a:t>
            </a:r>
            <a:r>
              <a:rPr lang="ko-KR" altLang="en-US" sz="1200">
                <a:solidFill>
                  <a:schemeClr val="tx1"/>
                </a:solidFill>
                <a:latin typeface="맑은 고딕"/>
              </a:rPr>
              <a:t>    </a:t>
            </a:r>
            <a:r>
              <a:rPr lang="en-US" altLang="ko-KR" sz="1200">
                <a:solidFill>
                  <a:schemeClr val="tx1"/>
                </a:solidFill>
                <a:latin typeface="맑은 고딕"/>
              </a:rPr>
              <a:t>|</a:t>
            </a:r>
            <a:r>
              <a:rPr lang="ko-KR" altLang="en-US" sz="1200">
                <a:solidFill>
                  <a:schemeClr val="tx1"/>
                </a:solidFill>
                <a:latin typeface="맑은 고딕"/>
              </a:rPr>
              <a:t>    팀 </a:t>
            </a:r>
            <a:r>
              <a:rPr lang="zh-CN" altLang="en-US" sz="1200">
                <a:solidFill>
                  <a:schemeClr val="tx1"/>
                </a:solidFill>
                <a:latin typeface="맑은 고딕"/>
                <a:ea typeface="맑은 고딕"/>
              </a:rPr>
              <a:t>石4</a:t>
            </a:r>
            <a:r>
              <a:rPr lang="ko-KR" altLang="en-US" sz="1200">
                <a:solidFill>
                  <a:schemeClr val="tx1"/>
                </a:solidFill>
                <a:latin typeface="맑은 고딕"/>
              </a:rPr>
              <a:t>  </a:t>
            </a:r>
            <a:endParaRPr lang="ko-KR" altLang="en-US" sz="1200">
              <a:solidFill>
                <a:schemeClr val="tx1"/>
              </a:solidFill>
              <a:latin typeface="맑은 고딕"/>
            </a:endParaRPr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32418" y="1696667"/>
            <a:ext cx="726492" cy="726492"/>
          </a:xfrm>
          <a:prstGeom prst="rect">
            <a:avLst/>
          </a:prstGeom>
        </p:spPr>
      </p:pic>
      <p:cxnSp>
        <p:nvCxnSpPr>
          <p:cNvPr id="29" name="선 28"/>
          <p:cNvCxnSpPr>
            <a:stCxn id="11" idx="3"/>
            <a:endCxn id="16" idx="0"/>
          </p:cNvCxnSpPr>
          <p:nvPr/>
        </p:nvCxnSpPr>
        <p:spPr>
          <a:xfrm rot="5400000">
            <a:off x="6179253" y="1928624"/>
            <a:ext cx="453929" cy="106399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선 29"/>
          <p:cNvCxnSpPr>
            <a:endCxn id="11" idx="6"/>
          </p:cNvCxnSpPr>
          <p:nvPr/>
        </p:nvCxnSpPr>
        <p:spPr>
          <a:xfrm rot="10800000" flipV="1">
            <a:off x="6599905" y="1492898"/>
            <a:ext cx="291901" cy="203768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선 30"/>
          <p:cNvCxnSpPr>
            <a:stCxn id="6" idx="2"/>
          </p:cNvCxnSpPr>
          <p:nvPr/>
        </p:nvCxnSpPr>
        <p:spPr>
          <a:xfrm rot="10800000" flipV="1">
            <a:off x="7056398" y="1289304"/>
            <a:ext cx="277090" cy="164592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선 31"/>
          <p:cNvCxnSpPr>
            <a:stCxn id="10" idx="0"/>
            <a:endCxn id="6" idx="4"/>
          </p:cNvCxnSpPr>
          <p:nvPr/>
        </p:nvCxnSpPr>
        <p:spPr>
          <a:xfrm rot="16200000" flipV="1">
            <a:off x="7379208" y="1408176"/>
            <a:ext cx="411480" cy="338328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선 32"/>
          <p:cNvCxnSpPr>
            <a:stCxn id="8" idx="1"/>
            <a:endCxn id="11" idx="5"/>
          </p:cNvCxnSpPr>
          <p:nvPr/>
        </p:nvCxnSpPr>
        <p:spPr>
          <a:xfrm rot="10800000">
            <a:off x="6575802" y="1754859"/>
            <a:ext cx="617198" cy="2468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선 33"/>
          <p:cNvCxnSpPr>
            <a:stCxn id="8" idx="3"/>
            <a:endCxn id="13" idx="7"/>
          </p:cNvCxnSpPr>
          <p:nvPr/>
        </p:nvCxnSpPr>
        <p:spPr>
          <a:xfrm rot="10800000" flipV="1">
            <a:off x="6949997" y="2118106"/>
            <a:ext cx="243003" cy="23771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선 34"/>
          <p:cNvCxnSpPr>
            <a:stCxn id="10" idx="2"/>
            <a:endCxn id="8" idx="6"/>
          </p:cNvCxnSpPr>
          <p:nvPr/>
        </p:nvCxnSpPr>
        <p:spPr>
          <a:xfrm rot="10800000" flipV="1">
            <a:off x="7333488" y="1865376"/>
            <a:ext cx="338328" cy="194537"/>
          </a:xfrm>
          <a:prstGeom prst="line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선 35"/>
          <p:cNvCxnSpPr>
            <a:stCxn id="15" idx="0"/>
            <a:endCxn id="16" idx="4"/>
          </p:cNvCxnSpPr>
          <p:nvPr/>
        </p:nvCxnSpPr>
        <p:spPr>
          <a:xfrm rot="16200000" flipV="1">
            <a:off x="6276579" y="2449819"/>
            <a:ext cx="399764" cy="246889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선 36"/>
          <p:cNvCxnSpPr/>
          <p:nvPr/>
        </p:nvCxnSpPr>
        <p:spPr>
          <a:xfrm rot="10800000" flipV="1">
            <a:off x="7056398" y="2784348"/>
            <a:ext cx="359386" cy="269748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선 37"/>
          <p:cNvCxnSpPr>
            <a:stCxn id="9" idx="1"/>
          </p:cNvCxnSpPr>
          <p:nvPr/>
        </p:nvCxnSpPr>
        <p:spPr>
          <a:xfrm rot="10800000">
            <a:off x="6891806" y="2496312"/>
            <a:ext cx="548082" cy="22984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선 38"/>
          <p:cNvCxnSpPr>
            <a:stCxn id="18" idx="2"/>
            <a:endCxn id="9" idx="0"/>
          </p:cNvCxnSpPr>
          <p:nvPr/>
        </p:nvCxnSpPr>
        <p:spPr>
          <a:xfrm rot="10800000" flipV="1">
            <a:off x="7498080" y="2505456"/>
            <a:ext cx="283464" cy="196596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선 39"/>
          <p:cNvCxnSpPr>
            <a:endCxn id="8" idx="5"/>
          </p:cNvCxnSpPr>
          <p:nvPr/>
        </p:nvCxnSpPr>
        <p:spPr>
          <a:xfrm rot="10800000">
            <a:off x="7309384" y="2118106"/>
            <a:ext cx="527024" cy="295910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선 40"/>
          <p:cNvCxnSpPr>
            <a:stCxn id="10" idx="4"/>
          </p:cNvCxnSpPr>
          <p:nvPr/>
        </p:nvCxnSpPr>
        <p:spPr>
          <a:xfrm rot="16200000" flipH="1">
            <a:off x="7575804" y="2125980"/>
            <a:ext cx="466344" cy="109728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선 41"/>
          <p:cNvCxnSpPr>
            <a:endCxn id="3" idx="0"/>
          </p:cNvCxnSpPr>
          <p:nvPr/>
        </p:nvCxnSpPr>
        <p:spPr>
          <a:xfrm rot="5400000">
            <a:off x="6305125" y="2985629"/>
            <a:ext cx="342672" cy="246889"/>
          </a:xfrm>
          <a:prstGeom prst="line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선 42"/>
          <p:cNvCxnSpPr>
            <a:stCxn id="3" idx="4"/>
            <a:endCxn id="17" idx="0"/>
          </p:cNvCxnSpPr>
          <p:nvPr/>
        </p:nvCxnSpPr>
        <p:spPr>
          <a:xfrm rot="16200000" flipH="1">
            <a:off x="6072983" y="3725037"/>
            <a:ext cx="642366" cy="82294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선 43"/>
          <p:cNvCxnSpPr>
            <a:stCxn id="7" idx="1"/>
            <a:endCxn id="3" idx="5"/>
          </p:cNvCxnSpPr>
          <p:nvPr/>
        </p:nvCxnSpPr>
        <p:spPr>
          <a:xfrm rot="10800000">
            <a:off x="6411210" y="3420898"/>
            <a:ext cx="422403" cy="96213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선 44"/>
          <p:cNvCxnSpPr>
            <a:stCxn id="4" idx="2"/>
            <a:endCxn id="7" idx="6"/>
          </p:cNvCxnSpPr>
          <p:nvPr/>
        </p:nvCxnSpPr>
        <p:spPr>
          <a:xfrm rot="10800000" flipV="1">
            <a:off x="6974102" y="3406140"/>
            <a:ext cx="222226" cy="169164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선 45"/>
          <p:cNvCxnSpPr>
            <a:stCxn id="14" idx="3"/>
          </p:cNvCxnSpPr>
          <p:nvPr/>
        </p:nvCxnSpPr>
        <p:spPr>
          <a:xfrm rot="10800000" flipV="1">
            <a:off x="7360920" y="3249448"/>
            <a:ext cx="362432" cy="179552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선 46"/>
          <p:cNvCxnSpPr>
            <a:stCxn id="14" idx="0"/>
            <a:endCxn id="18" idx="4"/>
          </p:cNvCxnSpPr>
          <p:nvPr/>
        </p:nvCxnSpPr>
        <p:spPr>
          <a:xfrm rot="5400000" flipH="1" flipV="1">
            <a:off x="7562088" y="2807208"/>
            <a:ext cx="521208" cy="82296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선 47"/>
          <p:cNvCxnSpPr>
            <a:stCxn id="5" idx="4"/>
            <a:endCxn id="7" idx="0"/>
          </p:cNvCxnSpPr>
          <p:nvPr/>
        </p:nvCxnSpPr>
        <p:spPr>
          <a:xfrm rot="5400000">
            <a:off x="6754646" y="3273552"/>
            <a:ext cx="356616" cy="82295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선 48"/>
          <p:cNvCxnSpPr>
            <a:endCxn id="15" idx="7"/>
          </p:cNvCxnSpPr>
          <p:nvPr/>
        </p:nvCxnSpPr>
        <p:spPr>
          <a:xfrm rot="5400000">
            <a:off x="6542187" y="2529927"/>
            <a:ext cx="383233" cy="151410"/>
          </a:xfrm>
          <a:prstGeom prst="line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</a:rPr>
              <a:t>문제 정의</a:t>
            </a:r>
            <a:endParaRPr lang="en-US" sz="2600">
              <a:latin typeface="맑은 고딕"/>
              <a:ea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24587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45870"/>
            <a:ext cx="402336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4587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500" b="1">
                <a:solidFill>
                  <a:srgbClr val="92400e"/>
                </a:solidFill>
                <a:latin typeface="맑은 고딕"/>
              </a:rPr>
              <a:t>⚡</a:t>
            </a:r>
            <a:r>
              <a:rPr lang="en-US" sz="1500" b="1">
                <a:solidFill>
                  <a:srgbClr val="92400e"/>
                </a:solidFill>
                <a:latin typeface="맑은 고딕"/>
                <a:ea typeface="맑은 고딕"/>
              </a:rPr>
              <a:t> 한국 송전망 현황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831086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8310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en-US" sz="1100">
              <a:latin typeface="맑은 고딕"/>
              <a:ea typeface="맑은 고딕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6384" y="18211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맑은 고딕"/>
                <a:ea typeface="맑은 고딕"/>
              </a:rPr>
              <a:t>수도권 전력 수요 집중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206883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맑은 고딕"/>
                <a:ea typeface="맑은 고딕"/>
              </a:rPr>
              <a:t>발전원은 비수도권에 편중 → 장거리 송전 의존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1480" y="2791206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27912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en-US" sz="1100">
              <a:latin typeface="맑은 고딕"/>
              <a:ea typeface="맑은 고딕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2773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맑은 고딕"/>
                <a:ea typeface="맑은 고딕"/>
              </a:rPr>
              <a:t>특정 선로 혼잡 지속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302895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맑은 고딕"/>
                <a:ea typeface="맑은 고딕"/>
              </a:rPr>
              <a:t>송전 제약 → 고비용 발전기 추가 가동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" y="3751326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1480" y="37513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en-US" sz="1100">
              <a:latin typeface="맑은 고딕"/>
              <a:ea typeface="맑은 고딕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7240" y="3743325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맑은 고딕"/>
                <a:ea typeface="맑은 고딕"/>
              </a:rPr>
              <a:t>비효율적 인프라 투자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7240" y="398907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맑은 고딕"/>
                <a:ea typeface="맑은 고딕"/>
              </a:rPr>
              <a:t>계통 운영 비용 증가 · 안정성 저하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46320" y="124587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245870"/>
            <a:ext cx="402336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1500"/>
          </a:p>
        </p:txBody>
      </p:sp>
      <p:sp>
        <p:nvSpPr>
          <p:cNvPr id="21" name="Text 19"/>
          <p:cNvSpPr/>
          <p:nvPr/>
        </p:nvSpPr>
        <p:spPr>
          <a:xfrm>
            <a:off x="4956810" y="124587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500" b="1">
                <a:solidFill>
                  <a:srgbClr val="991b1b"/>
                </a:solidFill>
                <a:latin typeface="맑은 고딕"/>
                <a:ea typeface="맑은 고딕"/>
              </a:rPr>
              <a:t>🔧 </a:t>
            </a:r>
            <a:r>
              <a:rPr lang="ko-KR" altLang="en-US" sz="1500" b="1">
                <a:solidFill>
                  <a:srgbClr val="991b1b"/>
                </a:solidFill>
                <a:latin typeface="맑은 고딕"/>
                <a:ea typeface="맑은 고딕"/>
              </a:rPr>
              <a:t> </a:t>
            </a:r>
            <a:r>
              <a:rPr lang="en-US" sz="1500" b="1">
                <a:solidFill>
                  <a:srgbClr val="991b1b"/>
                </a:solidFill>
                <a:latin typeface="맑은 고딕"/>
                <a:ea typeface="맑은 고딕"/>
              </a:rPr>
              <a:t>기존 도구의 한계</a:t>
            </a:r>
            <a:endParaRPr lang="en-US" sz="1500" b="1">
              <a:solidFill>
                <a:srgbClr val="991b1b"/>
              </a:solidFill>
              <a:latin typeface="맑은 고딕"/>
              <a:ea typeface="맑은 고딕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03520" y="179451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맑은 고딕"/>
                <a:ea typeface="맑은 고딕"/>
              </a:rPr>
              <a:t>DIgSILENT / ETAP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303520" y="206883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맑은 고딕"/>
                <a:ea typeface="맑은 고딕"/>
              </a:rPr>
              <a:t>높은 정밀도, 고비용 라이선스</a:t>
            </a:r>
            <a:endParaRPr lang="en-US" sz="105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맑은 고딕"/>
                <a:ea typeface="맑은 고딕"/>
              </a:rPr>
              <a:t>전문가 전용 · 가파른 학습 곡선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03520" y="275463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맑은 고딕"/>
                <a:ea typeface="맑은 고딕"/>
              </a:rPr>
              <a:t>pandapower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303520" y="302895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맑은 고딕"/>
                <a:ea typeface="맑은 고딕"/>
              </a:rPr>
              <a:t>계산 유연성 우수</a:t>
            </a:r>
            <a:endParaRPr lang="en-US" sz="105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맑은 고딕"/>
                <a:ea typeface="맑은 고딕"/>
              </a:rPr>
              <a:t>WebUI · 지도 연동 · AI 설명 없음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03520" y="371475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맑은 고딕"/>
                <a:ea typeface="맑은 고딕"/>
              </a:rPr>
              <a:t>공통 한계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03520" y="398907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맑은 고딕"/>
                <a:ea typeface="맑은 고딕"/>
              </a:rPr>
              <a:t>상호작용성 부족</a:t>
            </a:r>
            <a:endParaRPr lang="en-US" sz="105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맑은 고딕"/>
                <a:ea typeface="맑은 고딕"/>
              </a:rPr>
              <a:t>빠른 가설 검증 불가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36" name="Shape 5"/>
          <p:cNvSpPr/>
          <p:nvPr/>
        </p:nvSpPr>
        <p:spPr>
          <a:xfrm>
            <a:off x="4966716" y="1794510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37" name="Text 6"/>
          <p:cNvSpPr/>
          <p:nvPr/>
        </p:nvSpPr>
        <p:spPr>
          <a:xfrm>
            <a:off x="4966716" y="17945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en-US" sz="1100">
              <a:latin typeface="맑은 고딕"/>
              <a:ea typeface="맑은 고딕"/>
            </a:endParaRPr>
          </a:p>
        </p:txBody>
      </p:sp>
      <p:sp>
        <p:nvSpPr>
          <p:cNvPr id="42" name="Shape 5"/>
          <p:cNvSpPr/>
          <p:nvPr/>
        </p:nvSpPr>
        <p:spPr>
          <a:xfrm>
            <a:off x="4966335" y="2782062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43" name="Text 6"/>
          <p:cNvSpPr/>
          <p:nvPr/>
        </p:nvSpPr>
        <p:spPr>
          <a:xfrm>
            <a:off x="4966335" y="278206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altLang="ko-KR" sz="11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en-US" altLang="ko-KR" sz="11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5" name="Shape 5"/>
          <p:cNvSpPr/>
          <p:nvPr/>
        </p:nvSpPr>
        <p:spPr>
          <a:xfrm>
            <a:off x="4966335" y="3721989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46" name="Text 6"/>
          <p:cNvSpPr/>
          <p:nvPr/>
        </p:nvSpPr>
        <p:spPr>
          <a:xfrm>
            <a:off x="4966335" y="37219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altLang="ko-KR" sz="11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en-US" altLang="ko-KR" sz="11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</a:rPr>
              <a:t>SGOP 솔루션 개요</a:t>
            </a:r>
            <a:endParaRPr lang="en-US" sz="2600">
              <a:latin typeface="맑은 고딕"/>
              <a:ea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501840"/>
            <a:ext cx="2743200" cy="2761550"/>
          </a:xfrm>
          <a:prstGeom prst="rect">
            <a:avLst/>
          </a:prstGeom>
          <a:solidFill>
            <a:schemeClr val="lt1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88186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371600" y="184023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257175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chemeClr val="dk1"/>
                </a:solidFill>
                <a:latin typeface="맑은 고딕"/>
                <a:ea typeface="맑은 고딕"/>
              </a:rPr>
              <a:t>지도 기반</a:t>
            </a:r>
            <a:endParaRPr lang="en-US" sz="1500" b="1">
              <a:solidFill>
                <a:schemeClr val="dk1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chemeClr val="dk1"/>
                </a:solidFill>
                <a:latin typeface="맑은 고딕"/>
                <a:ea typeface="맑은 고딕"/>
              </a:rPr>
              <a:t>시각화</a:t>
            </a:r>
            <a:endParaRPr lang="en-US" sz="150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20040" y="321183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chemeClr val="dk1"/>
                </a:solidFill>
                <a:latin typeface="맑은 고딕"/>
                <a:ea typeface="맑은 고딕"/>
              </a:rPr>
              <a:t>브이월드 API 연동</a:t>
            </a:r>
            <a:endParaRPr lang="en-US" sz="1200">
              <a:solidFill>
                <a:schemeClr val="dk1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chemeClr val="dk1"/>
                </a:solidFill>
                <a:latin typeface="맑은 고딕"/>
                <a:ea typeface="맑은 고딕"/>
              </a:rPr>
              <a:t>혼잡도 직관적 파악</a:t>
            </a:r>
            <a:endParaRPr lang="en-US" sz="120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0" y="1501840"/>
            <a:ext cx="2743200" cy="2761550"/>
          </a:xfrm>
          <a:prstGeom prst="rect">
            <a:avLst/>
          </a:prstGeom>
          <a:solidFill>
            <a:schemeClr val="lt1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488186"/>
            <a:ext cx="2743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251960" y="184023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00400" y="257175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chemeClr val="dk1"/>
                </a:solidFill>
                <a:latin typeface="맑은 고딕"/>
                <a:ea typeface="맑은 고딕"/>
              </a:rPr>
              <a:t>인터랙티브</a:t>
            </a:r>
            <a:endParaRPr lang="en-US" sz="1500" b="1">
              <a:solidFill>
                <a:schemeClr val="dk1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chemeClr val="dk1"/>
                </a:solidFill>
                <a:latin typeface="맑은 고딕"/>
                <a:ea typeface="맑은 고딕"/>
              </a:rPr>
              <a:t>시뮬레이션</a:t>
            </a:r>
            <a:endParaRPr lang="en-US" sz="150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200400" y="321183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chemeClr val="dk1"/>
                </a:solidFill>
                <a:latin typeface="맑은 고딕"/>
                <a:ea typeface="맑은 고딕"/>
              </a:rPr>
              <a:t>클릭으로 가설 설정</a:t>
            </a:r>
            <a:endParaRPr lang="en-US" sz="1200">
              <a:solidFill>
                <a:schemeClr val="dk1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chemeClr val="dk1"/>
                </a:solidFill>
                <a:latin typeface="맑은 고딕"/>
                <a:ea typeface="맑은 고딕"/>
              </a:rPr>
              <a:t>즉시 결과 비교</a:t>
            </a:r>
            <a:endParaRPr lang="en-US" sz="120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080760" y="1501840"/>
            <a:ext cx="2743200" cy="2761550"/>
          </a:xfrm>
          <a:prstGeom prst="rect">
            <a:avLst/>
          </a:prstGeom>
          <a:solidFill>
            <a:schemeClr val="lt1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1488186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132320" y="184023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80760" y="257175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chemeClr val="dk1"/>
                </a:solidFill>
                <a:latin typeface="맑은 고딕"/>
                <a:ea typeface="맑은 고딕"/>
              </a:rPr>
              <a:t>AI 보조</a:t>
            </a:r>
            <a:endParaRPr lang="en-US" sz="1500" b="1">
              <a:solidFill>
                <a:schemeClr val="dk1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chemeClr val="dk1"/>
                </a:solidFill>
                <a:latin typeface="맑은 고딕"/>
                <a:ea typeface="맑은 고딕"/>
              </a:rPr>
              <a:t>의사결정</a:t>
            </a:r>
            <a:endParaRPr lang="en-US" sz="150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080760" y="321183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chemeClr val="dk1"/>
                </a:solidFill>
                <a:latin typeface="맑은 고딕"/>
                <a:ea typeface="맑은 고딕"/>
              </a:rPr>
              <a:t>추천 · 예측 · 설명</a:t>
            </a:r>
            <a:endParaRPr lang="en-US" sz="1200">
              <a:solidFill>
                <a:schemeClr val="dk1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chemeClr val="dk1"/>
                </a:solidFill>
                <a:latin typeface="맑은 고딕"/>
                <a:ea typeface="맑은 고딕"/>
              </a:rPr>
              <a:t>통합 서비스</a:t>
            </a:r>
            <a:endParaRPr lang="en-US" sz="120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6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</a:rPr>
              <a:t>핵심 기능</a:t>
            </a:r>
            <a:endParaRPr lang="en-US" sz="2600">
              <a:latin typeface="맑은 고딕"/>
              <a:ea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45301" y="894961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5301" y="894961"/>
            <a:ext cx="201168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000"/>
          </a:p>
        </p:txBody>
      </p:sp>
      <p:sp>
        <p:nvSpPr>
          <p:cNvPr id="6" name="Text 4"/>
          <p:cNvSpPr/>
          <p:nvPr/>
        </p:nvSpPr>
        <p:spPr>
          <a:xfrm>
            <a:off x="845301" y="894961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01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845301" y="1306441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실시간 송전망</a:t>
            </a:r>
            <a:endParaRPr lang="en-US" sz="1500" b="1">
              <a:solidFill>
                <a:srgbClr val="1e293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모니터링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5301" y="1992241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선로 이용률 기반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동적 색상 시각화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039861" y="894961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39861" y="894961"/>
            <a:ext cx="201168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000"/>
          </a:p>
        </p:txBody>
      </p:sp>
      <p:sp>
        <p:nvSpPr>
          <p:cNvPr id="11" name="Text 9"/>
          <p:cNvSpPr/>
          <p:nvPr/>
        </p:nvSpPr>
        <p:spPr>
          <a:xfrm>
            <a:off x="3039861" y="894961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02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3039861" y="1306441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신규 송전탑</a:t>
            </a:r>
            <a:endParaRPr lang="en-US" sz="1500" b="1">
              <a:solidFill>
                <a:srgbClr val="1e293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설치 시뮬레이션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39861" y="1992241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지도 클릭으로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가상 배치 즉시 반영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234421" y="894961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34421" y="894961"/>
            <a:ext cx="20116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000"/>
          </a:p>
        </p:txBody>
      </p:sp>
      <p:sp>
        <p:nvSpPr>
          <p:cNvPr id="16" name="Text 14"/>
          <p:cNvSpPr/>
          <p:nvPr/>
        </p:nvSpPr>
        <p:spPr>
          <a:xfrm>
            <a:off x="5234421" y="894961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03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5234421" y="1306441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AI 파라미터</a:t>
            </a:r>
            <a:endParaRPr lang="en-US" sz="1500" b="1">
              <a:solidFill>
                <a:srgbClr val="1e293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추천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34421" y="1992241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전압·용량·리액턴스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초기값 자동 제안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942581" y="2723761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942581" y="2723761"/>
            <a:ext cx="201168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200">
              <a:latin typeface="맑은 고딕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942581" y="2723761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b="1">
                <a:solidFill>
                  <a:srgbClr val="ffffff"/>
                </a:solidFill>
                <a:latin typeface="맑은 고딕"/>
                <a:ea typeface="맑은 고딕"/>
              </a:rPr>
              <a:t>0</a:t>
            </a:r>
            <a:r>
              <a:rPr lang="en-US" altLang="ko-KR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  <a:endParaRPr lang="en-US" altLang="ko-KR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942581" y="3135241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xAI 설명</a:t>
            </a:r>
            <a:endParaRPr lang="en-US" sz="1500" b="1">
              <a:solidFill>
                <a:srgbClr val="1e293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리포트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942581" y="3821041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왜 비효율적인지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정량 지표로 설명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137141" y="2723761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37141" y="2723761"/>
            <a:ext cx="201168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200">
              <a:latin typeface="맑은 고딕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137141" y="2723761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altLang="ko-KR" b="1">
                <a:solidFill>
                  <a:srgbClr val="ffffff"/>
                </a:solidFill>
                <a:latin typeface="맑은 고딕"/>
                <a:ea typeface="맑은 고딕"/>
              </a:rPr>
              <a:t>05</a:t>
            </a:r>
            <a:endParaRPr lang="en-US" altLang="ko-KR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137141" y="3135241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ko-KR" altLang="en-US" sz="1500" b="1">
                <a:solidFill>
                  <a:srgbClr val="1e293b"/>
                </a:solidFill>
                <a:latin typeface="맑은 고딕"/>
                <a:ea typeface="맑은 고딕"/>
              </a:rPr>
              <a:t>병목 위험 구간</a:t>
            </a:r>
            <a:endParaRPr lang="ko-KR" altLang="en-US" sz="1500" b="1">
              <a:solidFill>
                <a:srgbClr val="1e293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부하</a:t>
            </a:r>
            <a:r>
              <a:rPr lang="ko-KR" altLang="en-US" sz="1500" b="1">
                <a:solidFill>
                  <a:srgbClr val="1e293b"/>
                </a:solidFill>
                <a:latin typeface="맑은 고딕"/>
                <a:ea typeface="맑은 고딕"/>
              </a:rPr>
              <a:t> </a:t>
            </a: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예측</a:t>
            </a:r>
            <a:endParaRPr lang="en-US" sz="1500" b="1">
              <a:solidFill>
                <a:srgbClr val="1e293b"/>
              </a:solidFill>
              <a:latin typeface="맑은 고딕"/>
              <a:ea typeface="맑은 고딕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137141" y="3821041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LSTM 기반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병목 위험 구간 식별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31701" y="2723761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31701" y="2723761"/>
            <a:ext cx="2011680" cy="365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200">
              <a:latin typeface="맑은 고딕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331701" y="2723761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altLang="ko-KR" b="1">
                <a:solidFill>
                  <a:srgbClr val="ffffff"/>
                </a:solidFill>
                <a:latin typeface="맑은 고딕"/>
                <a:ea typeface="맑은 고딕"/>
              </a:rPr>
              <a:t>06</a:t>
            </a:r>
            <a:endParaRPr lang="en-US" altLang="ko-KR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31701" y="3135241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최적 설치점</a:t>
            </a:r>
            <a:endParaRPr lang="en-US" sz="1500" b="1">
              <a:solidFill>
                <a:srgbClr val="1e293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자동 추천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31701" y="3821041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A* 탐색 + AI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후보 제시</a:t>
            </a:r>
            <a:r>
              <a:rPr lang="en-US" altLang="ko-KR" sz="1200">
                <a:solidFill>
                  <a:srgbClr val="64748b"/>
                </a:solidFill>
                <a:latin typeface="맑은 고딕"/>
                <a:ea typeface="맑은 고딕"/>
              </a:rPr>
              <a:t> + GNN </a:t>
            </a:r>
            <a:endParaRPr lang="ko-KR" alt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ko-KR" altLang="en-US" sz="1200">
                <a:solidFill>
                  <a:srgbClr val="64748b"/>
                </a:solidFill>
                <a:latin typeface="맑은 고딕"/>
                <a:ea typeface="맑은 고딕"/>
              </a:rPr>
              <a:t>기반 재랭킹</a:t>
            </a:r>
            <a:endParaRPr lang="ko-KR" altLang="en-US" sz="1200">
              <a:solidFill>
                <a:srgbClr val="64748b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2600" b="1">
                <a:solidFill>
                  <a:srgbClr val="ffffff"/>
                </a:solidFill>
                <a:latin typeface="맑은 고딕"/>
                <a:ea typeface="맑은 고딕"/>
              </a:rPr>
              <a:t>시스템 전체</a:t>
            </a: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</a:rPr>
              <a:t> 흐름</a:t>
            </a:r>
            <a:endParaRPr lang="en-US" sz="26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164592"/>
            <a:ext cx="1554480" cy="2576571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1164592"/>
            <a:ext cx="155448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000">
              <a:latin typeface="맑은 고딕"/>
            </a:endParaRPr>
          </a:p>
        </p:txBody>
      </p:sp>
      <p:sp>
        <p:nvSpPr>
          <p:cNvPr id="6" name="Text 4"/>
          <p:cNvSpPr/>
          <p:nvPr/>
        </p:nvSpPr>
        <p:spPr>
          <a:xfrm>
            <a:off x="228600" y="11645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 b="1" kern="0" spc="100">
                <a:solidFill>
                  <a:srgbClr val="ffffff"/>
                </a:solidFill>
                <a:latin typeface="맑은 고딕"/>
                <a:ea typeface="맑은 고딕"/>
              </a:rPr>
              <a:t>STEP 1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7" name="Text 5"/>
          <p:cNvSpPr/>
          <p:nvPr/>
        </p:nvSpPr>
        <p:spPr>
          <a:xfrm>
            <a:off x="228600" y="17132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병목 확인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8" name="Text 6"/>
          <p:cNvSpPr/>
          <p:nvPr/>
        </p:nvSpPr>
        <p:spPr>
          <a:xfrm>
            <a:off x="228600" y="22801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지도에서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혼잡 선로 식별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783080" y="2562605"/>
            <a:ext cx="21945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 sz="1200">
              <a:latin typeface="맑은 고딕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92808" y="2452877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2563eb"/>
                </a:solidFill>
                <a:latin typeface="맑은 고딕"/>
                <a:ea typeface="맑은 고딕"/>
              </a:rPr>
              <a:t>▶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002536" y="1164592"/>
            <a:ext cx="1554480" cy="2576571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02536" y="1164592"/>
            <a:ext cx="15544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000">
              <a:latin typeface="맑은 고딕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02536" y="11645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 b="1" kern="0" spc="100">
                <a:solidFill>
                  <a:srgbClr val="ffffff"/>
                </a:solidFill>
                <a:latin typeface="맑은 고딕"/>
                <a:ea typeface="맑은 고딕"/>
              </a:rPr>
              <a:t>STEP 2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002536" y="17132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가설 설치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02536" y="22801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지도 클릭으로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송전탑 배치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549015" y="2567177"/>
            <a:ext cx="219456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 sz="1200">
              <a:latin typeface="맑은 고딕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58743" y="245745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0891b2"/>
                </a:solidFill>
                <a:latin typeface="맑은 고딕"/>
                <a:ea typeface="맑은 고딕"/>
              </a:rPr>
              <a:t>▶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76472" y="1164592"/>
            <a:ext cx="1554480" cy="2576571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76472" y="1164592"/>
            <a:ext cx="15544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000">
              <a:latin typeface="맑은 고딕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76472" y="11645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 b="1" kern="0" spc="100">
                <a:solidFill>
                  <a:srgbClr val="ffffff"/>
                </a:solidFill>
                <a:latin typeface="맑은 고딕"/>
                <a:ea typeface="맑은 고딕"/>
              </a:rPr>
              <a:t>STEP 3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776472" y="17132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AI 추천 적용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776472" y="22801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파라미터 자동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제안 + 검토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314951" y="2558033"/>
            <a:ext cx="219456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 sz="1200">
              <a:latin typeface="맑은 고딕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24679" y="2448305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7c3aed"/>
                </a:solidFill>
                <a:latin typeface="맑은 고딕"/>
                <a:ea typeface="맑은 고딕"/>
              </a:rPr>
              <a:t>▶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550408" y="1164592"/>
            <a:ext cx="1554480" cy="2576571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550408" y="1164592"/>
            <a:ext cx="155448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000">
              <a:latin typeface="맑은 고딕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550408" y="11645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 b="1" kern="0" spc="100">
                <a:solidFill>
                  <a:srgbClr val="ffffff"/>
                </a:solidFill>
                <a:latin typeface="맑은 고딕"/>
                <a:ea typeface="맑은 고딕"/>
              </a:rPr>
              <a:t>STEP 4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550408" y="17132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결과 확인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550408" y="22801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KPI · 색상 · 설명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즉시 반영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080886" y="2558033"/>
            <a:ext cx="219456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 sz="1200">
              <a:latin typeface="맑은 고딕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190614" y="2448305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059669"/>
                </a:solidFill>
                <a:latin typeface="맑은 고딕"/>
                <a:ea typeface="맑은 고딕"/>
              </a:rPr>
              <a:t>▶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324344" y="1164592"/>
            <a:ext cx="1554480" cy="2576571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324344" y="1164592"/>
            <a:ext cx="15544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000">
              <a:latin typeface="맑은 고딕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324344" y="11645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 b="1" kern="0" spc="100">
                <a:solidFill>
                  <a:srgbClr val="ffffff"/>
                </a:solidFill>
                <a:latin typeface="맑은 고딕"/>
                <a:ea typeface="맑은 고딕"/>
              </a:rPr>
              <a:t>STEP 5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324344" y="17132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대안 비교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324344" y="22801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시나리오 저장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후 비교 분석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40" name="Shape 35"/>
          <p:cNvSpPr/>
          <p:nvPr/>
        </p:nvSpPr>
        <p:spPr>
          <a:xfrm>
            <a:off x="228600" y="4264239"/>
            <a:ext cx="8686800" cy="76496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41" name="Shape 36"/>
          <p:cNvSpPr/>
          <p:nvPr/>
        </p:nvSpPr>
        <p:spPr>
          <a:xfrm>
            <a:off x="228600" y="4264239"/>
            <a:ext cx="164592" cy="764961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42" name="Text 37"/>
          <p:cNvSpPr/>
          <p:nvPr/>
        </p:nvSpPr>
        <p:spPr>
          <a:xfrm>
            <a:off x="484632" y="4361137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400" b="1">
                <a:solidFill>
                  <a:srgbClr val="1b2a4a"/>
                </a:solidFill>
                <a:latin typeface="맑은 고딕"/>
                <a:ea typeface="맑은 고딕"/>
              </a:rPr>
              <a:t>AI</a:t>
            </a:r>
            <a:r>
              <a:rPr lang="ko-KR" altLang="en-US" sz="1400" b="1">
                <a:solidFill>
                  <a:srgbClr val="1b2a4a"/>
                </a:solidFill>
                <a:latin typeface="맑은 고딕"/>
                <a:ea typeface="맑은 고딕"/>
              </a:rPr>
              <a:t> 자동 추천</a:t>
            </a:r>
            <a:endParaRPr lang="ko-KR" altLang="en-US" sz="1400" b="1">
              <a:solidFill>
                <a:srgbClr val="1b2a4a"/>
              </a:solidFill>
              <a:latin typeface="맑은 고딕"/>
              <a:ea typeface="맑은 고딕"/>
            </a:endParaRPr>
          </a:p>
        </p:txBody>
      </p:sp>
      <p:sp>
        <p:nvSpPr>
          <p:cNvPr id="44" name="Text 39"/>
          <p:cNvSpPr/>
          <p:nvPr/>
        </p:nvSpPr>
        <p:spPr>
          <a:xfrm>
            <a:off x="484632" y="4577545"/>
            <a:ext cx="6620256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200">
                <a:solidFill>
                  <a:srgbClr val="64748b"/>
                </a:solidFill>
                <a:latin typeface="맑은 고딕"/>
                <a:ea typeface="맑은 고딕"/>
              </a:rPr>
              <a:t>병목 및 효율 저하 감지 시</a:t>
            </a:r>
            <a:r>
              <a:rPr lang="en-US" altLang="ko-KR" sz="1200">
                <a:solidFill>
                  <a:srgbClr val="64748b"/>
                </a:solidFill>
                <a:latin typeface="맑은 고딕"/>
                <a:ea typeface="맑은 고딕"/>
              </a:rPr>
              <a:t>,</a:t>
            </a:r>
            <a:r>
              <a:rPr lang="ko-KR" altLang="en-US" sz="1200">
                <a:solidFill>
                  <a:srgbClr val="64748b"/>
                </a:solidFill>
                <a:latin typeface="맑은 고딕"/>
                <a:ea typeface="맑은 고딕"/>
              </a:rPr>
              <a:t> </a:t>
            </a:r>
            <a:r>
              <a:rPr lang="en-US" altLang="ko-KR" sz="1200">
                <a:solidFill>
                  <a:srgbClr val="64748b"/>
                </a:solidFill>
                <a:latin typeface="맑은 고딕"/>
                <a:ea typeface="맑은 고딕"/>
              </a:rPr>
              <a:t>A* +</a:t>
            </a:r>
            <a:r>
              <a:rPr lang="ko-KR" altLang="en-US" sz="1200">
                <a:solidFill>
                  <a:srgbClr val="64748b"/>
                </a:solidFill>
                <a:latin typeface="맑은 고딕"/>
                <a:ea typeface="맑은 고딕"/>
              </a:rPr>
              <a:t> </a:t>
            </a:r>
            <a:r>
              <a:rPr lang="en-US" altLang="ko-KR" sz="1200">
                <a:solidFill>
                  <a:srgbClr val="64748b"/>
                </a:solidFill>
                <a:latin typeface="맑은 고딕"/>
                <a:ea typeface="맑은 고딕"/>
              </a:rPr>
              <a:t>GNN</a:t>
            </a:r>
            <a:r>
              <a:rPr lang="ko-KR" altLang="en-US" sz="1200">
                <a:solidFill>
                  <a:srgbClr val="64748b"/>
                </a:solidFill>
                <a:latin typeface="맑은 고딕"/>
                <a:ea typeface="맑은 고딕"/>
              </a:rPr>
              <a:t>이 개선 경로 자동 탐색한 뒤 추천</a:t>
            </a:r>
            <a:endParaRPr lang="ko-KR" altLang="en-US" sz="1200">
              <a:solidFill>
                <a:srgbClr val="64748b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</a:rPr>
              <a:t>AI 학습 및 송전망 경로 최적화 메커니즘</a:t>
            </a:r>
            <a:endParaRPr lang="en-US" sz="2600">
              <a:latin typeface="맑은 고딕"/>
              <a:ea typeface="맑은 고딕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500" b="1">
                <a:solidFill>
                  <a:srgbClr val="64748b"/>
                </a:solidFill>
                <a:latin typeface="맑은 고딕"/>
                <a:ea typeface="맑은 고딕"/>
              </a:rPr>
              <a:t>① 학습 데이터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2100">
              <a:latin typeface="맑은 고딕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맑은 고딕"/>
                <a:ea typeface="맑은 고딕"/>
              </a:rPr>
              <a:t>과거 부하 이력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4048" y="162763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0352" y="15819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시간대별 수요 패턴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4048" y="194767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0352" y="19019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요일·공휴일·계절 변수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84048" y="226771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0352" y="22219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지역별 수요 비중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0" y="11887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0" y="1188720"/>
            <a:ext cx="27432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2100">
              <a:latin typeface="맑은 고딕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맑은 고딕"/>
                <a:ea typeface="맑은 고딕"/>
              </a:rPr>
              <a:t>혼잡 시나리오 로그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310128" y="1627632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56432" y="15819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병목 발생 구간·시각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310128" y="1947672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56432" y="19019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과부하 선로 특성값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310128" y="2267712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456432" y="22219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혼잡 해소 성공 패턴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26480" y="11887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26480" y="1188720"/>
            <a:ext cx="27432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2100">
              <a:latin typeface="맑은 고딕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2648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맑은 고딕"/>
                <a:ea typeface="맑은 고딕"/>
              </a:rPr>
              <a:t>설치 이력 데이터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36208" y="162763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82512" y="15819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후보 위치 특성 피처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36208" y="194767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82512" y="19019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적용된 파라미터 값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236208" y="226771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82512" y="22219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결과 개선 정도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74320" y="29260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500" b="1">
                <a:solidFill>
                  <a:srgbClr val="64748b"/>
                </a:solidFill>
                <a:latin typeface="맑은 고딕"/>
                <a:ea typeface="맑은 고딕"/>
              </a:rPr>
              <a:t>② AI 모델 학습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74320" y="321868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74320" y="3218688"/>
            <a:ext cx="41148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1400">
              <a:latin typeface="맑은 고딕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65760" y="3218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맑은 고딕"/>
                <a:ea typeface="맑은 고딕"/>
              </a:rPr>
              <a:t>LSTM — 부하 예측 모델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65760" y="3639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맑은 고딕"/>
                <a:ea typeface="맑은 고딕"/>
              </a:rPr>
              <a:t>입력: 최근 72h 부하 + 시간대 + 요일 + 지역 수요 비중</a:t>
            </a:r>
            <a:endParaRPr lang="en-US" sz="1000">
              <a:latin typeface="맑은 고딕"/>
              <a:ea typeface="맑은 고딕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65760" y="3913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맑은 고딕"/>
                <a:ea typeface="맑은 고딕"/>
              </a:rPr>
              <a:t>학습: 시계열 시퀀스 → LSTM → Dense → 24h 예측값 출력</a:t>
            </a:r>
            <a:endParaRPr lang="en-US" sz="1000">
              <a:latin typeface="맑은 고딕"/>
              <a:ea typeface="맑은 고딕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65760" y="4187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맑은 고딕"/>
                <a:ea typeface="맑은 고딕"/>
              </a:rPr>
              <a:t>출력: 시간대별 예측 부하 + 병목 위험 Top-N 선로</a:t>
            </a:r>
            <a:endParaRPr lang="en-US" sz="1000">
              <a:latin typeface="맑은 고딕"/>
              <a:ea typeface="맑은 고딕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754880" y="321868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754880" y="3218688"/>
            <a:ext cx="41148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1400">
              <a:latin typeface="맑은 고딕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846320" y="3218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GNN - </a:t>
            </a:r>
            <a:r>
              <a:rPr lang="en-US" sz="1400" b="1">
                <a:solidFill>
                  <a:srgbClr val="ffffff"/>
                </a:solidFill>
                <a:latin typeface="맑은 고딕"/>
                <a:ea typeface="맑은 고딕"/>
              </a:rPr>
              <a:t>설치점 추천 보조 모델</a:t>
            </a:r>
            <a:endParaRPr 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846320" y="3639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맑은 고딕"/>
                <a:ea typeface="맑은 고딕"/>
              </a:rPr>
              <a:t>입력: 후보 위치 피처</a:t>
            </a:r>
            <a:r>
              <a:rPr lang="ko-KR" altLang="en-US" sz="1000">
                <a:solidFill>
                  <a:srgbClr val="1e293b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>
                <a:solidFill>
                  <a:srgbClr val="1e293b"/>
                </a:solidFill>
                <a:latin typeface="맑은 고딕"/>
                <a:ea typeface="맑은 고딕"/>
              </a:rPr>
              <a:t>+ </a:t>
            </a:r>
            <a:r>
              <a:rPr lang="ko-KR" altLang="en-US" sz="1000">
                <a:solidFill>
                  <a:srgbClr val="1e293b"/>
                </a:solidFill>
                <a:latin typeface="맑은 고딕"/>
                <a:ea typeface="맑은 고딕"/>
              </a:rPr>
              <a:t>노드</a:t>
            </a:r>
            <a:r>
              <a:rPr lang="en-US" altLang="ko-KR" sz="1000">
                <a:solidFill>
                  <a:srgbClr val="1e293b"/>
                </a:solidFill>
                <a:latin typeface="맑은 고딕"/>
                <a:ea typeface="맑은 고딕"/>
              </a:rPr>
              <a:t>/</a:t>
            </a:r>
            <a:r>
              <a:rPr lang="ko-KR" altLang="en-US" sz="1000">
                <a:solidFill>
                  <a:srgbClr val="1e293b"/>
                </a:solidFill>
                <a:latin typeface="맑은 고딕"/>
                <a:ea typeface="맑은 고딕"/>
              </a:rPr>
              <a:t>엣지 특성 </a:t>
            </a:r>
            <a:r>
              <a:rPr lang="en-US" altLang="ko-KR" sz="1000">
                <a:solidFill>
                  <a:srgbClr val="1e293b"/>
                </a:solidFill>
                <a:latin typeface="맑은 고딕"/>
                <a:ea typeface="맑은 고딕"/>
              </a:rPr>
              <a:t>+ </a:t>
            </a:r>
            <a:r>
              <a:rPr lang="ko-KR" altLang="en-US" sz="1000">
                <a:solidFill>
                  <a:srgbClr val="1e293b"/>
                </a:solidFill>
                <a:latin typeface="맑은 고딕"/>
                <a:ea typeface="맑은 고딕"/>
              </a:rPr>
              <a:t>그래프</a:t>
            </a:r>
            <a:r>
              <a:rPr lang="en-US" altLang="ko-KR" sz="1000">
                <a:solidFill>
                  <a:srgbClr val="1e293b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>
                <a:solidFill>
                  <a:srgbClr val="1e293b"/>
                </a:solidFill>
                <a:latin typeface="맑은 고딕"/>
                <a:ea typeface="맑은 고딕"/>
              </a:rPr>
              <a:t>구조</a:t>
            </a:r>
            <a:endParaRPr lang="ko-KR" altLang="en-US" sz="1000">
              <a:solidFill>
                <a:srgbClr val="1e293b"/>
              </a:solidFill>
              <a:latin typeface="맑은 고딕"/>
              <a:ea typeface="맑은 고딕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846320" y="3913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맑은 고딕"/>
                <a:ea typeface="맑은 고딕"/>
              </a:rPr>
              <a:t>학습: </a:t>
            </a:r>
            <a:r>
              <a:rPr lang="ko-KR" altLang="en-US" sz="1000">
                <a:solidFill>
                  <a:srgbClr val="1e293b"/>
                </a:solidFill>
                <a:latin typeface="맑은 고딕"/>
                <a:ea typeface="맑은 고딕"/>
              </a:rPr>
              <a:t>메세지 패싱 </a:t>
            </a:r>
            <a:r>
              <a:rPr lang="en-US" altLang="ko-KR" sz="1000">
                <a:solidFill>
                  <a:srgbClr val="1e293b"/>
                </a:solidFill>
                <a:latin typeface="맑은 고딕"/>
                <a:ea typeface="맑은 고딕"/>
              </a:rPr>
              <a:t>-&gt;</a:t>
            </a:r>
            <a:r>
              <a:rPr lang="ko-KR" altLang="en-US" sz="1000">
                <a:solidFill>
                  <a:srgbClr val="1e293b"/>
                </a:solidFill>
                <a:latin typeface="맑은 고딕"/>
                <a:ea typeface="맑은 고딕"/>
              </a:rPr>
              <a:t>노드</a:t>
            </a:r>
            <a:r>
              <a:rPr lang="en-US" altLang="ko-KR" sz="1000">
                <a:solidFill>
                  <a:srgbClr val="1e293b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>
                <a:solidFill>
                  <a:srgbClr val="1e293b"/>
                </a:solidFill>
                <a:latin typeface="맑은 고딕"/>
                <a:ea typeface="맑은 고딕"/>
              </a:rPr>
              <a:t>임베딩</a:t>
            </a:r>
            <a:r>
              <a:rPr lang="en-US" altLang="ko-KR" sz="1000">
                <a:solidFill>
                  <a:srgbClr val="1e293b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>
                <a:solidFill>
                  <a:srgbClr val="1e293b"/>
                </a:solidFill>
                <a:latin typeface="맑은 고딕"/>
                <a:ea typeface="맑은 고딕"/>
              </a:rPr>
              <a:t>생성 </a:t>
            </a:r>
            <a:r>
              <a:rPr lang="en-US" altLang="ko-KR" sz="1000">
                <a:solidFill>
                  <a:srgbClr val="1e293b"/>
                </a:solidFill>
                <a:latin typeface="맑은 고딕"/>
                <a:ea typeface="맑은 고딕"/>
              </a:rPr>
              <a:t>-&gt;</a:t>
            </a:r>
            <a:r>
              <a:rPr lang="ko-KR" altLang="en-US" sz="1000">
                <a:solidFill>
                  <a:srgbClr val="1e293b"/>
                </a:solidFill>
                <a:latin typeface="맑은 고딕"/>
                <a:ea typeface="맑은 고딕"/>
              </a:rPr>
              <a:t>후보</a:t>
            </a:r>
            <a:r>
              <a:rPr lang="en-US" altLang="ko-KR" sz="1000">
                <a:solidFill>
                  <a:srgbClr val="1e293b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>
                <a:solidFill>
                  <a:srgbClr val="1e293b"/>
                </a:solidFill>
                <a:latin typeface="맑은 고딕"/>
                <a:ea typeface="맑은 고딕"/>
              </a:rPr>
              <a:t>점수 예측</a:t>
            </a:r>
            <a:endParaRPr lang="ko-KR" altLang="en-US" sz="1000">
              <a:solidFill>
                <a:srgbClr val="1e293b"/>
              </a:solidFill>
              <a:latin typeface="맑은 고딕"/>
              <a:ea typeface="맑은 고딕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846320" y="4187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맑은 고딕"/>
                <a:ea typeface="맑은 고딕"/>
              </a:rPr>
              <a:t>출력: A* 후보 재랭킹 → 상위 3~5개 최종 추천</a:t>
            </a:r>
            <a:endParaRPr lang="en-US" sz="1000">
              <a:latin typeface="맑은 고딕"/>
              <a:ea typeface="맑은 고딕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166534"/>
                </a:solidFill>
                <a:latin typeface="맑은 고딕"/>
                <a:ea typeface="맑은 고딕"/>
              </a:rPr>
              <a:t>③ 검증 루프:  AI 추천 결과  →  DC Power Flow 재계산 (결정론적)  →  수치 확인  →  사용자 최종 선택</a:t>
            </a:r>
            <a:endParaRPr lang="en-US" sz="105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맑은 고딕"/>
              </a:rPr>
              <a:t>기술 스택</a:t>
            </a:r>
            <a:endParaRPr lang="en-US" sz="2600">
              <a:latin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74320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맑은 고딕"/>
              </a:rPr>
              <a:t>Framework / Language</a:t>
            </a:r>
            <a:endParaRPr lang="en-US" sz="1400">
              <a:latin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30759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1200">
              <a:latin typeface="맑은 고딕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4632" y="12618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1e293b"/>
                </a:solidFill>
                <a:latin typeface="맑은 고딕"/>
              </a:rPr>
              <a:t>Streamlit (프론트+백 통합)</a:t>
            </a:r>
            <a:endParaRPr lang="en-US" sz="1200">
              <a:latin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65506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1200">
              <a:latin typeface="맑은 고딕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4632" y="16093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1e293b"/>
                </a:solidFill>
                <a:latin typeface="맑은 고딕"/>
              </a:rPr>
              <a:t>Python</a:t>
            </a:r>
            <a:endParaRPr lang="en-US" sz="1200">
              <a:latin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28600" y="2176272"/>
            <a:ext cx="274320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 sz="1200">
              <a:latin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28600" y="2176272"/>
            <a:ext cx="274320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1200">
              <a:latin typeface="맑은 고딕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" y="2176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맑은 고딕"/>
              </a:rPr>
              <a:t>Computation</a:t>
            </a:r>
            <a:endParaRPr lang="en-US" sz="1400">
              <a:latin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2569464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1200">
              <a:latin typeface="맑은 고딕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" y="25237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1e293b"/>
                </a:solidFill>
                <a:latin typeface="맑은 고딕"/>
              </a:rPr>
              <a:t>NumPy / SciPy</a:t>
            </a:r>
            <a:endParaRPr lang="en-US" sz="1200">
              <a:latin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2916936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1200">
              <a:latin typeface="맑은 고딕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" y="287121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1e293b"/>
                </a:solidFill>
                <a:latin typeface="맑은 고딕"/>
              </a:rPr>
              <a:t>NetworkX (그래프)</a:t>
            </a:r>
            <a:endParaRPr lang="en-US" sz="1200">
              <a:latin typeface="맑은 고딕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154680" y="914400"/>
            <a:ext cx="2743200" cy="192938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154680" y="914400"/>
            <a:ext cx="27432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1400">
              <a:latin typeface="맑은 고딕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46120" y="914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맑은 고딕"/>
              </a:rPr>
              <a:t>AI / ML</a:t>
            </a:r>
            <a:endParaRPr lang="en-US" sz="1400">
              <a:latin typeface="맑은 고딕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46120" y="130759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1200">
              <a:latin typeface="맑은 고딕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10712" y="12618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1e293b"/>
                </a:solidFill>
                <a:latin typeface="맑은 고딕"/>
              </a:rPr>
              <a:t>TensorFlow / Keras </a:t>
            </a:r>
            <a:endParaRPr lang="en-US" sz="1200">
              <a:latin typeface="맑은 고딕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46120" y="165506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1200">
              <a:latin typeface="맑은 고딕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410712" y="16093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1e293b"/>
                </a:solidFill>
                <a:latin typeface="맑은 고딕"/>
              </a:rPr>
              <a:t>규칙기반 xAI 리포터</a:t>
            </a:r>
            <a:endParaRPr lang="en-US" sz="1200">
              <a:latin typeface="맑은 고딕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46120" y="200253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1200">
              <a:latin typeface="맑은 고딕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410712" y="195681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1e293b"/>
                </a:solidFill>
                <a:latin typeface="맑은 고딕"/>
              </a:rPr>
              <a:t>pandas (데이터 처리)</a:t>
            </a:r>
            <a:endParaRPr lang="en-US" sz="1200">
              <a:latin typeface="맑은 고딕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80760" y="2487168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 sz="1200">
              <a:latin typeface="맑은 고딕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80760" y="2487168"/>
            <a:ext cx="274320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172200" y="2487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맑은 고딕"/>
              </a:rPr>
              <a:t>Map / Visualization</a:t>
            </a:r>
            <a:endParaRPr lang="en-US" sz="1400">
              <a:latin typeface="맑은 고딕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172200" y="2880360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1200">
              <a:latin typeface="맑은 고딕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336792" y="2834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1e293b"/>
                </a:solidFill>
                <a:latin typeface="맑은 고딕"/>
              </a:rPr>
              <a:t>브이월드 Open API</a:t>
            </a:r>
            <a:endParaRPr lang="en-US" sz="1200">
              <a:latin typeface="맑은 고딕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172200" y="3227832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1200">
              <a:latin typeface="맑은 고딕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336792" y="3182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1e293b"/>
                </a:solidFill>
                <a:latin typeface="맑은 고딕"/>
              </a:rPr>
              <a:t>Plotly / Altair</a:t>
            </a:r>
            <a:endParaRPr lang="en-US" sz="1200">
              <a:latin typeface="맑은 고딕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080760" y="914400"/>
            <a:ext cx="274320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080760" y="914400"/>
            <a:ext cx="274320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172200" y="914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맑은 고딕"/>
              </a:rPr>
              <a:t>Storage / Deploy</a:t>
            </a:r>
            <a:endParaRPr lang="en-US" sz="1400">
              <a:latin typeface="맑은 고딕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172200" y="1307592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1200">
              <a:latin typeface="맑은 고딕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336792" y="12618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1e293b"/>
                </a:solidFill>
                <a:latin typeface="맑은 고딕"/>
              </a:rPr>
              <a:t>CSV / SQLite</a:t>
            </a:r>
            <a:endParaRPr lang="en-US" sz="1200">
              <a:latin typeface="맑은 고딕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172200" y="1655064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1200">
              <a:latin typeface="맑은 고딕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336792" y="16093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1e293b"/>
                </a:solidFill>
                <a:latin typeface="맑은 고딕"/>
              </a:rPr>
              <a:t>Streamlit Community Cloud</a:t>
            </a:r>
            <a:endParaRPr lang="en-US" sz="1200">
              <a:latin typeface="맑은 고딕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172200" y="2002536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1200">
              <a:latin typeface="맑은 고딕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336792" y="195681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1e293b"/>
                </a:solidFill>
                <a:latin typeface="맑은 고딕"/>
              </a:rPr>
              <a:t>GitHub</a:t>
            </a:r>
            <a:endParaRPr lang="en-US" sz="1200">
              <a:latin typeface="맑은 고딕"/>
            </a:endParaRPr>
          </a:p>
        </p:txBody>
      </p:sp>
      <p:sp>
        <p:nvSpPr>
          <p:cNvPr id="46" name="Shape 25"/>
          <p:cNvSpPr/>
          <p:nvPr/>
        </p:nvSpPr>
        <p:spPr>
          <a:xfrm>
            <a:off x="3248025" y="236905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 sz="1200">
              <a:latin typeface="맑은 고딕"/>
            </a:endParaRPr>
          </a:p>
        </p:txBody>
      </p:sp>
      <p:sp>
        <p:nvSpPr>
          <p:cNvPr id="47" name="Text 26"/>
          <p:cNvSpPr/>
          <p:nvPr/>
        </p:nvSpPr>
        <p:spPr>
          <a:xfrm>
            <a:off x="3412617" y="232333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200">
                <a:solidFill>
                  <a:srgbClr val="1e293b"/>
                </a:solidFill>
                <a:latin typeface="맑은 고딕"/>
              </a:rPr>
              <a:t>PyTorch Geometric</a:t>
            </a:r>
            <a:endParaRPr lang="en-US" altLang="ko-KR" sz="1200">
              <a:solidFill>
                <a:srgbClr val="1e293b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2600" b="1">
                <a:solidFill>
                  <a:srgbClr val="ffffff"/>
                </a:solidFill>
                <a:latin typeface="맑은 고딕"/>
              </a:rPr>
              <a:t>6</a:t>
            </a:r>
            <a:r>
              <a:rPr lang="en-US" sz="2600" b="1">
                <a:solidFill>
                  <a:srgbClr val="ffffff"/>
                </a:solidFill>
                <a:latin typeface="맑은 고딕"/>
              </a:rPr>
              <a:t>주 개발 로드맵</a:t>
            </a:r>
            <a:endParaRPr lang="en-US" sz="26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103120" cy="3021174"/>
          </a:xfrm>
          <a:prstGeom prst="rect">
            <a:avLst/>
          </a:prstGeom>
          <a:solidFill>
            <a:schemeClr val="lt1"/>
          </a:solidFill>
          <a:ln w="1524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1031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6" name="Text 4"/>
          <p:cNvSpPr/>
          <p:nvPr/>
        </p:nvSpPr>
        <p:spPr>
          <a:xfrm>
            <a:off x="182880" y="914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</a:rPr>
              <a:t>Phase 1</a:t>
            </a:r>
            <a:endParaRPr lang="en-US" sz="1100" b="1">
              <a:solidFill>
                <a:srgbClr val="ffffff"/>
              </a:solidFill>
              <a:latin typeface="맑은 고딕"/>
            </a:endParaRPr>
          </a:p>
          <a:p>
            <a:pPr marL="0" lv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</a:rPr>
              <a:t>기반 구축</a:t>
            </a:r>
            <a:endParaRPr lang="en-US" sz="1100">
              <a:latin typeface="맑은 고딕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2880" y="1261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맑은 고딕"/>
              </a:rPr>
              <a:t>1주</a:t>
            </a:r>
            <a:endParaRPr lang="en-US" sz="120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636776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16276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공통 인터페이스 설계</a:t>
            </a:r>
            <a:endParaRPr lang="ko-KR" altLang="en-US" sz="1000">
              <a:solidFill>
                <a:srgbClr val="1e293b"/>
              </a:solidFill>
              <a:latin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2194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맑은 고딕"/>
              </a:rPr>
              <a:t>Streamlit + 브이월드 연동</a:t>
            </a:r>
            <a:endParaRPr lang="en-US" sz="1000">
              <a:latin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76148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" y="27614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맑은 고딕"/>
              </a:rPr>
              <a:t>DC Power Flow </a:t>
            </a: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최소</a:t>
            </a:r>
            <a:r>
              <a:rPr lang="en-US" sz="1000">
                <a:solidFill>
                  <a:srgbClr val="1e293b"/>
                </a:solidFill>
                <a:latin typeface="맑은 고딕"/>
              </a:rPr>
              <a:t> 구현</a:t>
            </a:r>
            <a:endParaRPr lang="en-US" sz="1000">
              <a:solidFill>
                <a:srgbClr val="1e293b"/>
              </a:solidFill>
              <a:latin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3328416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0040" y="332841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000">
                <a:solidFill>
                  <a:srgbClr val="1e293b"/>
                </a:solidFill>
                <a:latin typeface="맑은 고딕"/>
              </a:rPr>
              <a:t>mock </a:t>
            </a: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기준 데모 가능 상태</a:t>
            </a:r>
            <a:endParaRPr lang="ko-KR" altLang="en-US" sz="1000">
              <a:solidFill>
                <a:srgbClr val="1e293b"/>
              </a:solidFill>
              <a:latin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286000" y="2834640"/>
            <a:ext cx="10972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304288" y="274320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900">
                <a:solidFill>
                  <a:srgbClr val="2563eb"/>
                </a:solidFill>
                <a:latin typeface="맑은 고딕"/>
              </a:rPr>
              <a:t>▶</a:t>
            </a:r>
            <a:endParaRPr lang="en-US" sz="900">
              <a:latin typeface="맑은 고딕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395728" y="914400"/>
            <a:ext cx="2103120" cy="3021174"/>
          </a:xfrm>
          <a:prstGeom prst="rect">
            <a:avLst/>
          </a:prstGeom>
          <a:solidFill>
            <a:schemeClr val="lt1"/>
          </a:solidFill>
          <a:ln w="1524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395728" y="914400"/>
            <a:ext cx="210312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395728" y="914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</a:rPr>
              <a:t>Phase 2</a:t>
            </a:r>
            <a:endParaRPr lang="en-US" sz="1100" b="1">
              <a:solidFill>
                <a:srgbClr val="ffffff"/>
              </a:solidFill>
              <a:latin typeface="맑은 고딕"/>
            </a:endParaRPr>
          </a:p>
          <a:p>
            <a:pPr marL="0" lv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</a:rPr>
              <a:t>핵심 </a:t>
            </a:r>
            <a:r>
              <a:rPr lang="ko-KR" altLang="en-US" sz="1100" b="1">
                <a:solidFill>
                  <a:srgbClr val="ffffff"/>
                </a:solidFill>
                <a:latin typeface="맑은 고딕"/>
              </a:rPr>
              <a:t>기능 연결</a:t>
            </a:r>
            <a:endParaRPr lang="ko-KR" altLang="en-US" sz="11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395728" y="1261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altLang="ko-KR" sz="1200">
                <a:solidFill>
                  <a:srgbClr val="ffffff"/>
                </a:solidFill>
                <a:latin typeface="맑은 고딕"/>
              </a:rPr>
              <a:t>2~3</a:t>
            </a:r>
            <a:r>
              <a:rPr lang="en-US" sz="1200">
                <a:solidFill>
                  <a:srgbClr val="ffffff"/>
                </a:solidFill>
                <a:latin typeface="맑은 고딕"/>
              </a:rPr>
              <a:t>주</a:t>
            </a:r>
            <a:endParaRPr lang="en-US" sz="120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487168" y="1627632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532888" y="16276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000">
                <a:solidFill>
                  <a:srgbClr val="1e293b"/>
                </a:solidFill>
                <a:latin typeface="맑은 고딕"/>
              </a:rPr>
              <a:t>A* </a:t>
            </a: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탐색 </a:t>
            </a:r>
            <a:r>
              <a:rPr lang="en-US" altLang="ko-KR" sz="1000">
                <a:solidFill>
                  <a:srgbClr val="1e293b"/>
                </a:solidFill>
                <a:latin typeface="맑은 고딕"/>
              </a:rPr>
              <a:t>+</a:t>
            </a: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 추천 점수화 </a:t>
            </a:r>
            <a:r>
              <a:rPr lang="en-US" altLang="ko-KR" sz="1000">
                <a:solidFill>
                  <a:srgbClr val="1e293b"/>
                </a:solidFill>
                <a:latin typeface="맑은 고딕"/>
              </a:rPr>
              <a:t>v1</a:t>
            </a:r>
            <a:endParaRPr lang="en-US" altLang="ko-KR" sz="1000">
              <a:solidFill>
                <a:srgbClr val="1e293b"/>
              </a:solidFill>
              <a:latin typeface="맑은 고딕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487168" y="2194560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532888" y="2194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혼잡도 실제값 </a:t>
            </a:r>
            <a:r>
              <a:rPr lang="en-US" altLang="ko-KR" sz="1000">
                <a:solidFill>
                  <a:srgbClr val="1e293b"/>
                </a:solidFill>
                <a:latin typeface="맑은 고딕"/>
              </a:rPr>
              <a:t>-&gt; </a:t>
            </a: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모니터링</a:t>
            </a:r>
            <a:r>
              <a:rPr lang="en-US" altLang="ko-KR" sz="1000">
                <a:solidFill>
                  <a:srgbClr val="1e293b"/>
                </a:solidFill>
                <a:latin typeface="맑은 고딕"/>
              </a:rPr>
              <a:t> </a:t>
            </a: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화면 연결</a:t>
            </a:r>
            <a:endParaRPr lang="ko-KR" altLang="en-US" sz="1000">
              <a:solidFill>
                <a:srgbClr val="1e293b"/>
              </a:solidFill>
              <a:latin typeface="맑은 고딕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487168" y="276148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532888" y="27614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설치 전후 비교 흐름 연결</a:t>
            </a:r>
            <a:endParaRPr lang="ko-KR" altLang="en-US" sz="1000">
              <a:solidFill>
                <a:srgbClr val="1e293b"/>
              </a:solidFill>
              <a:latin typeface="맑은 고딕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487168" y="3328416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532888" y="332841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000">
                <a:solidFill>
                  <a:srgbClr val="1e293b"/>
                </a:solidFill>
                <a:latin typeface="맑은 고딕"/>
              </a:rPr>
              <a:t>LSTM &amp;</a:t>
            </a: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 </a:t>
            </a:r>
            <a:r>
              <a:rPr lang="en-US" altLang="ko-KR" sz="1000">
                <a:solidFill>
                  <a:srgbClr val="1e293b"/>
                </a:solidFill>
                <a:latin typeface="맑은 고딕"/>
              </a:rPr>
              <a:t>GNN</a:t>
            </a: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 예측 </a:t>
            </a:r>
            <a:r>
              <a:rPr lang="en-US" altLang="ko-KR" sz="1000">
                <a:solidFill>
                  <a:srgbClr val="1e293b"/>
                </a:solidFill>
                <a:latin typeface="맑은 고딕"/>
              </a:rPr>
              <a:t>-&gt;</a:t>
            </a: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 페이지 연결</a:t>
            </a:r>
            <a:endParaRPr lang="ko-KR" altLang="en-US" sz="1000">
              <a:solidFill>
                <a:srgbClr val="1e293b"/>
              </a:solidFill>
              <a:latin typeface="맑은 고딕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498848" y="2834640"/>
            <a:ext cx="10972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17136" y="274320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900">
                <a:solidFill>
                  <a:srgbClr val="0891b2"/>
                </a:solidFill>
                <a:latin typeface="맑은 고딕"/>
              </a:rPr>
              <a:t>▶</a:t>
            </a:r>
            <a:endParaRPr lang="en-US" sz="900">
              <a:latin typeface="맑은 고딕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608576" y="914400"/>
            <a:ext cx="2103120" cy="3021174"/>
          </a:xfrm>
          <a:prstGeom prst="rect">
            <a:avLst/>
          </a:prstGeom>
          <a:solidFill>
            <a:schemeClr val="lt1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608576" y="914400"/>
            <a:ext cx="210312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608576" y="914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</a:rPr>
              <a:t>Phase 3</a:t>
            </a:r>
            <a:endParaRPr lang="en-US" sz="1100" b="1">
              <a:solidFill>
                <a:srgbClr val="ffffff"/>
              </a:solidFill>
              <a:latin typeface="맑은 고딕"/>
            </a:endParaRPr>
          </a:p>
          <a:p>
            <a:pPr marL="0" lvl="0" indent="0" algn="ctr">
              <a:buNone/>
              <a:defRPr/>
            </a:pPr>
            <a:r>
              <a:rPr lang="ko-KR" altLang="en-US" sz="1100" b="1">
                <a:solidFill>
                  <a:srgbClr val="ffffff"/>
                </a:solidFill>
                <a:latin typeface="맑은 고딕"/>
              </a:rPr>
              <a:t>통합 안정화</a:t>
            </a:r>
            <a:endParaRPr lang="ko-KR" altLang="en-US" sz="11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608576" y="1261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altLang="ko-KR" sz="1200">
                <a:solidFill>
                  <a:srgbClr val="ffffff"/>
                </a:solidFill>
                <a:latin typeface="맑은 고딕"/>
              </a:rPr>
              <a:t>4~5</a:t>
            </a:r>
            <a:r>
              <a:rPr lang="en-US" sz="1200">
                <a:solidFill>
                  <a:srgbClr val="ffffff"/>
                </a:solidFill>
                <a:latin typeface="맑은 고딕"/>
              </a:rPr>
              <a:t>주</a:t>
            </a:r>
            <a:endParaRPr lang="en-US" sz="120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700016" y="1627632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745736" y="16276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전체적인 흐름 통합</a:t>
            </a:r>
            <a:endParaRPr lang="ko-KR" altLang="en-US" sz="1000">
              <a:solidFill>
                <a:srgbClr val="1e293b"/>
              </a:solidFill>
              <a:latin typeface="맑은 고딕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698111" y="2185797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43831" y="2185797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000">
                <a:solidFill>
                  <a:srgbClr val="1e293b"/>
                </a:solidFill>
                <a:latin typeface="맑은 고딕"/>
              </a:rPr>
              <a:t>fall back </a:t>
            </a: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동작 확인</a:t>
            </a:r>
            <a:endParaRPr lang="ko-KR" altLang="en-US" sz="1000">
              <a:solidFill>
                <a:srgbClr val="1e293b"/>
              </a:solidFill>
              <a:latin typeface="맑은 고딕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698111" y="2752725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743831" y="2752725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000">
                <a:solidFill>
                  <a:srgbClr val="1e293b"/>
                </a:solidFill>
                <a:latin typeface="맑은 고딕"/>
              </a:rPr>
              <a:t>xAI </a:t>
            </a: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설명 텍스트 초안</a:t>
            </a:r>
            <a:endParaRPr lang="ko-KR" altLang="en-US" sz="1000">
              <a:solidFill>
                <a:srgbClr val="1e293b"/>
              </a:solidFill>
              <a:latin typeface="맑은 고딕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711696" y="2834640"/>
            <a:ext cx="109728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729984" y="274320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900">
                <a:solidFill>
                  <a:srgbClr val="7c3aed"/>
                </a:solidFill>
                <a:latin typeface="맑은 고딕"/>
              </a:rPr>
              <a:t>▶</a:t>
            </a:r>
            <a:endParaRPr lang="en-US" sz="900">
              <a:latin typeface="맑은 고딕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821424" y="914400"/>
            <a:ext cx="2103120" cy="3021174"/>
          </a:xfrm>
          <a:prstGeom prst="rect">
            <a:avLst/>
          </a:prstGeom>
          <a:solidFill>
            <a:schemeClr val="lt1"/>
          </a:solidFill>
          <a:ln w="1524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821424" y="914400"/>
            <a:ext cx="210312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821424" y="914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</a:rPr>
              <a:t>Phase 4</a:t>
            </a:r>
            <a:endParaRPr lang="en-US" sz="1100" b="1">
              <a:solidFill>
                <a:srgbClr val="ffffff"/>
              </a:solidFill>
              <a:latin typeface="맑은 고딕"/>
            </a:endParaRPr>
          </a:p>
          <a:p>
            <a:pPr marL="0" lvl="0" indent="0" algn="ctr">
              <a:buNone/>
              <a:defRPr/>
            </a:pPr>
            <a:r>
              <a:rPr lang="en-US" altLang="ko-KR" sz="1100" b="1">
                <a:solidFill>
                  <a:srgbClr val="ffffff"/>
                </a:solidFill>
                <a:latin typeface="맑은 고딕"/>
              </a:rPr>
              <a:t>MVP </a:t>
            </a:r>
            <a:r>
              <a:rPr lang="ko-KR" altLang="en-US" sz="1100" b="1">
                <a:solidFill>
                  <a:srgbClr val="ffffff"/>
                </a:solidFill>
                <a:latin typeface="맑은 고딕"/>
              </a:rPr>
              <a:t>완료</a:t>
            </a:r>
            <a:endParaRPr lang="ko-KR" altLang="en-US" sz="11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821424" y="1261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altLang="ko-KR" sz="1200">
                <a:solidFill>
                  <a:srgbClr val="ffffff"/>
                </a:solidFill>
                <a:latin typeface="맑은 고딕"/>
              </a:rPr>
              <a:t>6</a:t>
            </a:r>
            <a:r>
              <a:rPr lang="en-US" sz="1200">
                <a:solidFill>
                  <a:srgbClr val="ffffff"/>
                </a:solidFill>
                <a:latin typeface="맑은 고딕"/>
              </a:rPr>
              <a:t>주</a:t>
            </a:r>
            <a:endParaRPr lang="en-US" sz="120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912864" y="1627632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958584" y="16276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최종 통합 </a:t>
            </a:r>
            <a:r>
              <a:rPr lang="en-US" altLang="ko-KR" sz="1000">
                <a:solidFill>
                  <a:srgbClr val="1e293b"/>
                </a:solidFill>
                <a:latin typeface="맑은 고딕"/>
              </a:rPr>
              <a:t>+</a:t>
            </a: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 버그 수정</a:t>
            </a:r>
            <a:endParaRPr lang="ko-KR" altLang="en-US" sz="1000">
              <a:solidFill>
                <a:srgbClr val="1e293b"/>
              </a:solidFill>
              <a:latin typeface="맑은 고딕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912864" y="2194560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958584" y="2194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맑은 고딕"/>
              </a:rPr>
              <a:t>Streamlit Cloud 배포</a:t>
            </a:r>
            <a:endParaRPr lang="en-US" sz="1000">
              <a:latin typeface="맑은 고딕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912864" y="276148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958584" y="27614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리허설 </a:t>
            </a:r>
            <a:r>
              <a:rPr lang="en-US" altLang="ko-KR" sz="1000">
                <a:solidFill>
                  <a:srgbClr val="1e293b"/>
                </a:solidFill>
                <a:latin typeface="맑은 고딕"/>
              </a:rPr>
              <a:t>+</a:t>
            </a: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 발표 데모 준비</a:t>
            </a:r>
            <a:endParaRPr lang="ko-KR" altLang="en-US" sz="1000">
              <a:solidFill>
                <a:srgbClr val="1e293b"/>
              </a:solidFill>
              <a:latin typeface="맑은 고딕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912864" y="3328416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958584" y="332841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000">
                <a:solidFill>
                  <a:srgbClr val="1e293b"/>
                </a:solidFill>
                <a:latin typeface="맑은 고딕"/>
              </a:rPr>
              <a:t>MVP </a:t>
            </a: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완료</a:t>
            </a:r>
            <a:endParaRPr lang="ko-KR" altLang="en-US" sz="1000">
              <a:solidFill>
                <a:srgbClr val="1e293b"/>
              </a:solidFill>
              <a:latin typeface="맑은 고딕"/>
            </a:endParaRPr>
          </a:p>
        </p:txBody>
      </p:sp>
      <p:sp>
        <p:nvSpPr>
          <p:cNvPr id="61" name="Shape 40"/>
          <p:cNvSpPr/>
          <p:nvPr/>
        </p:nvSpPr>
        <p:spPr>
          <a:xfrm>
            <a:off x="4698111" y="3319653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62" name="Text 41"/>
          <p:cNvSpPr/>
          <p:nvPr/>
        </p:nvSpPr>
        <p:spPr>
          <a:xfrm>
            <a:off x="4743831" y="3319653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000">
                <a:solidFill>
                  <a:srgbClr val="1e293b"/>
                </a:solidFill>
                <a:latin typeface="맑은 고딕"/>
              </a:rPr>
              <a:t>발표 핵심 시나리오 고정</a:t>
            </a:r>
            <a:endParaRPr lang="ko-KR" altLang="en-US" sz="1000">
              <a:solidFill>
                <a:srgbClr val="1e293b"/>
              </a:solidFill>
              <a:latin typeface="맑은 고딕"/>
            </a:endParaRPr>
          </a:p>
        </p:txBody>
      </p:sp>
      <p:sp>
        <p:nvSpPr>
          <p:cNvPr id="67" name="Shape 35"/>
          <p:cNvSpPr/>
          <p:nvPr/>
        </p:nvSpPr>
        <p:spPr>
          <a:xfrm>
            <a:off x="182880" y="4050792"/>
            <a:ext cx="8741664" cy="10927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68" name="Shape 36"/>
          <p:cNvSpPr/>
          <p:nvPr/>
        </p:nvSpPr>
        <p:spPr>
          <a:xfrm>
            <a:off x="182880" y="4050792"/>
            <a:ext cx="182880" cy="10927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69" name="Text 37"/>
          <p:cNvSpPr/>
          <p:nvPr/>
        </p:nvSpPr>
        <p:spPr>
          <a:xfrm>
            <a:off x="484632" y="41513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200" b="1">
                <a:solidFill>
                  <a:srgbClr val="1b2a4a"/>
                </a:solidFill>
                <a:latin typeface="맑은 고딕"/>
                <a:ea typeface="맑은 고딕"/>
              </a:rPr>
              <a:t>역할 분담</a:t>
            </a:r>
            <a:endParaRPr lang="ko-KR" altLang="en-US" sz="1200" b="1">
              <a:solidFill>
                <a:srgbClr val="1b2a4a"/>
              </a:solidFill>
              <a:latin typeface="맑은 고딕"/>
              <a:ea typeface="맑은 고딕"/>
            </a:endParaRPr>
          </a:p>
        </p:txBody>
      </p:sp>
      <p:sp>
        <p:nvSpPr>
          <p:cNvPr id="70" name="Text 38"/>
          <p:cNvSpPr/>
          <p:nvPr/>
        </p:nvSpPr>
        <p:spPr>
          <a:xfrm>
            <a:off x="475487" y="43525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100" b="1">
                <a:solidFill>
                  <a:srgbClr val="1e293b"/>
                </a:solidFill>
                <a:latin typeface="맑은 고딕"/>
                <a:ea typeface="맑은 고딕"/>
              </a:rPr>
              <a:t>박차오름</a:t>
            </a:r>
            <a:endParaRPr lang="ko-KR" altLang="en-US" sz="1100" b="1">
              <a:solidFill>
                <a:srgbClr val="1e293b"/>
              </a:solidFill>
              <a:latin typeface="맑은 고딕"/>
              <a:ea typeface="맑은 고딕"/>
            </a:endParaRPr>
          </a:p>
        </p:txBody>
      </p:sp>
      <p:sp>
        <p:nvSpPr>
          <p:cNvPr id="71" name="Text 39"/>
          <p:cNvSpPr/>
          <p:nvPr/>
        </p:nvSpPr>
        <p:spPr>
          <a:xfrm>
            <a:off x="475487" y="45811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000">
                <a:solidFill>
                  <a:srgbClr val="64748b"/>
                </a:solidFill>
                <a:latin typeface="맑은 고딕"/>
                <a:ea typeface="맑은 고딕"/>
              </a:rPr>
              <a:t>공통 코어 및 통합</a:t>
            </a:r>
            <a:r>
              <a:rPr lang="en-US" altLang="ko-KR" sz="1000">
                <a:solidFill>
                  <a:srgbClr val="64748b"/>
                </a:solidFill>
                <a:latin typeface="맑은 고딕"/>
                <a:ea typeface="맑은 고딕"/>
              </a:rPr>
              <a:t>, A* </a:t>
            </a:r>
            <a:r>
              <a:rPr lang="ko-KR" altLang="en-US" sz="1000">
                <a:solidFill>
                  <a:srgbClr val="64748b"/>
                </a:solidFill>
                <a:latin typeface="맑은 고딕"/>
                <a:ea typeface="맑은 고딕"/>
              </a:rPr>
              <a:t>탐색 및 점수화 로직</a:t>
            </a:r>
            <a:r>
              <a:rPr lang="en-US" altLang="ko-KR" sz="1000">
                <a:solidFill>
                  <a:srgbClr val="64748b"/>
                </a:solidFill>
                <a:latin typeface="맑은 고딕"/>
                <a:ea typeface="맑은 고딕"/>
              </a:rPr>
              <a:t>,</a:t>
            </a:r>
            <a:r>
              <a:rPr lang="ko-KR" altLang="en-US" sz="1000">
                <a:solidFill>
                  <a:srgbClr val="64748b"/>
                </a:solidFill>
                <a:latin typeface="맑은 고딕"/>
                <a:ea typeface="맑은 고딕"/>
              </a:rPr>
              <a:t> 서비스 간 연결</a:t>
            </a:r>
            <a:r>
              <a:rPr lang="en-US" altLang="ko-KR" sz="1000">
                <a:solidFill>
                  <a:srgbClr val="64748b"/>
                </a:solidFill>
                <a:latin typeface="맑은 고딕"/>
                <a:ea typeface="맑은 고딕"/>
              </a:rPr>
              <a:t>,</a:t>
            </a:r>
            <a:r>
              <a:rPr lang="ko-KR" altLang="en-US" sz="1000">
                <a:solidFill>
                  <a:srgbClr val="64748b"/>
                </a:solidFill>
                <a:latin typeface="맑은 고딕"/>
                <a:ea typeface="맑은 고딕"/>
              </a:rPr>
              <a:t> 병목 처리 등</a:t>
            </a:r>
            <a:endParaRPr lang="ko-KR" altLang="en-US" sz="1000">
              <a:solidFill>
                <a:srgbClr val="64748b"/>
              </a:solidFill>
              <a:latin typeface="맑은 고딕"/>
              <a:ea typeface="맑은 고딕"/>
            </a:endParaRPr>
          </a:p>
        </p:txBody>
      </p:sp>
      <p:sp>
        <p:nvSpPr>
          <p:cNvPr id="72" name="Text 40"/>
          <p:cNvSpPr/>
          <p:nvPr/>
        </p:nvSpPr>
        <p:spPr>
          <a:xfrm>
            <a:off x="2624328" y="43525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100" b="1">
                <a:solidFill>
                  <a:srgbClr val="1e293b"/>
                </a:solidFill>
                <a:latin typeface="맑은 고딕"/>
                <a:ea typeface="맑은 고딕"/>
              </a:rPr>
              <a:t>권나현</a:t>
            </a:r>
            <a:endParaRPr lang="ko-KR" altLang="en-US" sz="1100" b="1">
              <a:solidFill>
                <a:srgbClr val="1e293b"/>
              </a:solidFill>
              <a:latin typeface="맑은 고딕"/>
              <a:ea typeface="맑은 고딕"/>
            </a:endParaRPr>
          </a:p>
        </p:txBody>
      </p:sp>
      <p:sp>
        <p:nvSpPr>
          <p:cNvPr id="73" name="Text 41"/>
          <p:cNvSpPr/>
          <p:nvPr/>
        </p:nvSpPr>
        <p:spPr>
          <a:xfrm>
            <a:off x="2624328" y="45811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000">
                <a:solidFill>
                  <a:srgbClr val="64748b"/>
                </a:solidFill>
                <a:latin typeface="맑은 고딕"/>
                <a:ea typeface="맑은 고딕"/>
              </a:rPr>
              <a:t>후보지 입력 </a:t>
            </a:r>
            <a:r>
              <a:rPr lang="en-US" altLang="ko-KR" sz="1000">
                <a:solidFill>
                  <a:srgbClr val="64748b"/>
                </a:solidFill>
                <a:latin typeface="맑은 고딕"/>
                <a:ea typeface="맑은 고딕"/>
              </a:rPr>
              <a:t>UI, </a:t>
            </a:r>
            <a:r>
              <a:rPr lang="ko-KR" altLang="en-US" sz="1000">
                <a:solidFill>
                  <a:srgbClr val="64748b"/>
                </a:solidFill>
                <a:latin typeface="맑은 고딕"/>
                <a:ea typeface="맑은 고딕"/>
              </a:rPr>
              <a:t>지도 오버레이 등 시뮬레이션 관련 기능들</a:t>
            </a:r>
            <a:endParaRPr lang="ko-KR" altLang="en-US" sz="1000">
              <a:solidFill>
                <a:srgbClr val="64748b"/>
              </a:solidFill>
              <a:latin typeface="맑은 고딕"/>
              <a:ea typeface="맑은 고딕"/>
            </a:endParaRPr>
          </a:p>
        </p:txBody>
      </p:sp>
      <p:sp>
        <p:nvSpPr>
          <p:cNvPr id="74" name="Text 42"/>
          <p:cNvSpPr/>
          <p:nvPr/>
        </p:nvSpPr>
        <p:spPr>
          <a:xfrm>
            <a:off x="4773168" y="43525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100" b="1">
                <a:solidFill>
                  <a:srgbClr val="1e293b"/>
                </a:solidFill>
                <a:latin typeface="맑은 고딕"/>
                <a:ea typeface="맑은 고딕"/>
              </a:rPr>
              <a:t>김도림</a:t>
            </a:r>
            <a:endParaRPr lang="ko-KR" altLang="en-US" sz="1100" b="1">
              <a:solidFill>
                <a:srgbClr val="1e293b"/>
              </a:solidFill>
              <a:latin typeface="맑은 고딕"/>
              <a:ea typeface="맑은 고딕"/>
            </a:endParaRPr>
          </a:p>
        </p:txBody>
      </p:sp>
      <p:sp>
        <p:nvSpPr>
          <p:cNvPr id="75" name="Text 43"/>
          <p:cNvSpPr/>
          <p:nvPr/>
        </p:nvSpPr>
        <p:spPr>
          <a:xfrm>
            <a:off x="6922008" y="4572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000">
                <a:solidFill>
                  <a:srgbClr val="64748b"/>
                </a:solidFill>
                <a:latin typeface="맑은 고딕"/>
              </a:rPr>
              <a:t>혼잡도 계산</a:t>
            </a:r>
            <a:r>
              <a:rPr lang="en-US" altLang="ko-KR" sz="1000">
                <a:solidFill>
                  <a:srgbClr val="64748b"/>
                </a:solidFill>
                <a:latin typeface="맑은 고딕"/>
              </a:rPr>
              <a:t>,</a:t>
            </a:r>
            <a:r>
              <a:rPr lang="ko-KR" altLang="en-US" sz="1000">
                <a:solidFill>
                  <a:srgbClr val="64748b"/>
                </a:solidFill>
                <a:latin typeface="맑은 고딕"/>
              </a:rPr>
              <a:t> 차트</a:t>
            </a:r>
            <a:r>
              <a:rPr lang="en-US" altLang="ko-KR" sz="1000">
                <a:solidFill>
                  <a:srgbClr val="64748b"/>
                </a:solidFill>
                <a:latin typeface="맑은 고딕"/>
              </a:rPr>
              <a:t>,</a:t>
            </a:r>
            <a:r>
              <a:rPr lang="ko-KR" altLang="en-US" sz="1000">
                <a:solidFill>
                  <a:srgbClr val="64748b"/>
                </a:solidFill>
                <a:latin typeface="맑은 고딕"/>
              </a:rPr>
              <a:t> 상태 시각화 등의 모니터링 관련 기능들</a:t>
            </a:r>
            <a:endParaRPr lang="ko-KR" altLang="en-US" sz="1000">
              <a:solidFill>
                <a:srgbClr val="64748b"/>
              </a:solidFill>
              <a:latin typeface="맑은 고딕"/>
            </a:endParaRPr>
          </a:p>
        </p:txBody>
      </p:sp>
      <p:sp>
        <p:nvSpPr>
          <p:cNvPr id="76" name="Text 44"/>
          <p:cNvSpPr/>
          <p:nvPr/>
        </p:nvSpPr>
        <p:spPr>
          <a:xfrm>
            <a:off x="6922008" y="43525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100" b="1">
                <a:solidFill>
                  <a:srgbClr val="1e293b"/>
                </a:solidFill>
                <a:latin typeface="맑은 고딕"/>
              </a:rPr>
              <a:t>김동근</a:t>
            </a:r>
            <a:endParaRPr lang="ko-KR" altLang="en-US" sz="1100" b="1">
              <a:solidFill>
                <a:srgbClr val="1e293b"/>
              </a:solidFill>
              <a:latin typeface="맑은 고딕"/>
            </a:endParaRPr>
          </a:p>
        </p:txBody>
      </p:sp>
      <p:sp>
        <p:nvSpPr>
          <p:cNvPr id="77" name="Text 45"/>
          <p:cNvSpPr/>
          <p:nvPr/>
        </p:nvSpPr>
        <p:spPr>
          <a:xfrm>
            <a:off x="4773168" y="45811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000">
                <a:solidFill>
                  <a:srgbClr val="64748b"/>
                </a:solidFill>
                <a:latin typeface="맑은 고딕"/>
              </a:rPr>
              <a:t>LSTM </a:t>
            </a:r>
            <a:r>
              <a:rPr lang="ko-KR" altLang="en-US" sz="1000">
                <a:solidFill>
                  <a:srgbClr val="64748b"/>
                </a:solidFill>
                <a:latin typeface="맑은 고딕"/>
              </a:rPr>
              <a:t>기반 예측 파이프라인</a:t>
            </a:r>
            <a:r>
              <a:rPr lang="en-US" altLang="ko-KR" sz="1000">
                <a:solidFill>
                  <a:srgbClr val="64748b"/>
                </a:solidFill>
                <a:latin typeface="맑은 고딕"/>
              </a:rPr>
              <a:t>,</a:t>
            </a:r>
            <a:r>
              <a:rPr lang="ko-KR" altLang="en-US" sz="1000">
                <a:solidFill>
                  <a:srgbClr val="64748b"/>
                </a:solidFill>
                <a:latin typeface="맑은 고딕"/>
              </a:rPr>
              <a:t> 위험도 출력 등 예측 관련 기능들</a:t>
            </a:r>
            <a:endParaRPr lang="ko-KR" altLang="en-US" sz="1000">
              <a:solidFill>
                <a:srgbClr val="64748b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2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</a:rPr>
              <a:t>기대 효과</a:t>
            </a:r>
            <a:r>
              <a:rPr lang="ko-KR" altLang="en-US" sz="2600" b="1">
                <a:solidFill>
                  <a:srgbClr val="ffffff"/>
                </a:solidFill>
                <a:latin typeface="맑은 고딕"/>
                <a:ea typeface="맑은 고딕"/>
              </a:rPr>
              <a:t> 및 활용 가능성</a:t>
            </a:r>
            <a:endParaRPr lang="ko-KR" altLang="en-US" sz="26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64748b"/>
                </a:solidFill>
                <a:latin typeface="맑은 고딕"/>
                <a:ea typeface="맑은 고딕"/>
              </a:rPr>
              <a:t>기대 효과</a:t>
            </a:r>
            <a:endParaRPr lang="en-US" sz="1100">
              <a:latin typeface="맑은 고딕"/>
              <a:ea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1170432"/>
            <a:ext cx="2057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20574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87552" y="1353312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19476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 b="1">
                <a:solidFill>
                  <a:srgbClr val="2563eb"/>
                </a:solidFill>
                <a:latin typeface="맑은 고딕"/>
                <a:ea typeface="맑은 고딕"/>
              </a:rPr>
              <a:t>혼잡 이슈 직관화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02920" y="2359152"/>
            <a:ext cx="1508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11480" y="2487168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6072" y="243230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지도 위 선로 색상으로</a:t>
            </a:r>
            <a:endParaRPr lang="en-US" sz="1050">
              <a:solidFill>
                <a:srgbClr val="1e293b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혼잡도 즉시 파악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11480" y="3035808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6072" y="29809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비전문가도 현황</a:t>
            </a:r>
            <a:endParaRPr lang="en-US" sz="1050">
              <a:solidFill>
                <a:srgbClr val="1e293b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이해 가능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441448" y="1170432"/>
            <a:ext cx="2057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441448" y="1170432"/>
            <a:ext cx="20574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200400" y="1353312"/>
            <a:ext cx="530352" cy="5303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41448" y="19476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 b="1">
                <a:solidFill>
                  <a:srgbClr val="0891b2"/>
                </a:solidFill>
                <a:latin typeface="맑은 고딕"/>
                <a:ea typeface="맑은 고딕"/>
              </a:rPr>
              <a:t>빠른 의사결정 지원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2715768" y="2359152"/>
            <a:ext cx="1508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2624328" y="248716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2788920" y="243230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클릭 한 번으로</a:t>
            </a:r>
            <a:endParaRPr lang="en-US" sz="1050">
              <a:solidFill>
                <a:srgbClr val="1e293b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설치 효과 즉시 확인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2624328" y="303580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2788920" y="29809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기존 대비 검토 속도</a:t>
            </a:r>
            <a:endParaRPr lang="en-US" sz="1050">
              <a:solidFill>
                <a:srgbClr val="1e293b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획기적 단축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4654296" y="1170432"/>
            <a:ext cx="2057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4654296" y="1170432"/>
            <a:ext cx="20574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13248" y="1353312"/>
            <a:ext cx="530352" cy="53035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654296" y="19476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 b="1">
                <a:solidFill>
                  <a:srgbClr val="7c3aed"/>
                </a:solidFill>
                <a:latin typeface="맑은 고딕"/>
                <a:ea typeface="맑은 고딕"/>
              </a:rPr>
              <a:t>AI 기반 설명 가능성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4928616" y="2359152"/>
            <a:ext cx="1508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4837176" y="248716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5001768" y="243230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왜 비효율인지</a:t>
            </a:r>
            <a:endParaRPr lang="en-US" sz="1050">
              <a:solidFill>
                <a:srgbClr val="1e293b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정량 지표로 설명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4837176" y="303580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5001768" y="29809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추천 근거 투명하게</a:t>
            </a:r>
            <a:endParaRPr lang="en-US" sz="1050">
              <a:solidFill>
                <a:srgbClr val="1e293b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제시 (xAI)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6867144" y="1170432"/>
            <a:ext cx="2057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33" name="Shape 28"/>
          <p:cNvSpPr/>
          <p:nvPr/>
        </p:nvSpPr>
        <p:spPr>
          <a:xfrm>
            <a:off x="6867144" y="1170432"/>
            <a:ext cx="205740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626096" y="1353312"/>
            <a:ext cx="530352" cy="53035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867144" y="19476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 b="1">
                <a:solidFill>
                  <a:srgbClr val="059669"/>
                </a:solidFill>
                <a:latin typeface="맑은 고딕"/>
                <a:ea typeface="맑은 고딕"/>
              </a:rPr>
              <a:t>통합 시나리오 분석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36" name="Shape 30"/>
          <p:cNvSpPr/>
          <p:nvPr/>
        </p:nvSpPr>
        <p:spPr>
          <a:xfrm>
            <a:off x="7141464" y="2359152"/>
            <a:ext cx="1508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37" name="Shape 31"/>
          <p:cNvSpPr/>
          <p:nvPr/>
        </p:nvSpPr>
        <p:spPr>
          <a:xfrm>
            <a:off x="7050024" y="248716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38" name="Text 32"/>
          <p:cNvSpPr/>
          <p:nvPr/>
        </p:nvSpPr>
        <p:spPr>
          <a:xfrm>
            <a:off x="7214616" y="243230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050">
                <a:solidFill>
                  <a:srgbClr val="1e293b"/>
                </a:solidFill>
                <a:latin typeface="맑은 고딕"/>
              </a:rPr>
              <a:t>예측 및 설치안을</a:t>
            </a:r>
            <a:endParaRPr lang="ko-KR" altLang="en-US" sz="1050">
              <a:solidFill>
                <a:srgbClr val="1e293b"/>
              </a:solidFill>
              <a:latin typeface="맑은 고딕"/>
            </a:endParaRPr>
          </a:p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한 화면에서 비교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39" name="Shape 33"/>
          <p:cNvSpPr/>
          <p:nvPr/>
        </p:nvSpPr>
        <p:spPr>
          <a:xfrm>
            <a:off x="7050024" y="303580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7214616" y="29809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다중 대안 저장 후</a:t>
            </a:r>
            <a:endParaRPr lang="en-US" sz="1050">
              <a:solidFill>
                <a:srgbClr val="1e293b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맑은 고딕"/>
                <a:ea typeface="맑은 고딕"/>
              </a:rPr>
              <a:t>객관적 수치 비교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41" name="Shape 35"/>
          <p:cNvSpPr/>
          <p:nvPr/>
        </p:nvSpPr>
        <p:spPr>
          <a:xfrm>
            <a:off x="228600" y="3840480"/>
            <a:ext cx="8686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42" name="Shape 36"/>
          <p:cNvSpPr/>
          <p:nvPr/>
        </p:nvSpPr>
        <p:spPr>
          <a:xfrm>
            <a:off x="228600" y="3840480"/>
            <a:ext cx="164592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en-US" altLang="ko-KR">
              <a:latin typeface="맑은 고딕"/>
            </a:endParaRPr>
          </a:p>
        </p:txBody>
      </p:sp>
      <p:sp>
        <p:nvSpPr>
          <p:cNvPr id="43" name="Text 37"/>
          <p:cNvSpPr/>
          <p:nvPr/>
        </p:nvSpPr>
        <p:spPr>
          <a:xfrm>
            <a:off x="502920" y="3886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1b2a4a"/>
                </a:solidFill>
                <a:latin typeface="맑은 고딕"/>
                <a:ea typeface="맑은 고딕"/>
              </a:rPr>
              <a:t>활용 </a:t>
            </a:r>
            <a:r>
              <a:rPr lang="ko-KR" altLang="en-US" sz="1200" b="1">
                <a:solidFill>
                  <a:srgbClr val="1b2a4a"/>
                </a:solidFill>
                <a:latin typeface="맑은 고딕"/>
              </a:rPr>
              <a:t>가능성</a:t>
            </a:r>
            <a:endParaRPr lang="en-US" sz="1200" b="1">
              <a:solidFill>
                <a:srgbClr val="1b2a4a"/>
              </a:solidFill>
              <a:latin typeface="맑은 고딕"/>
              <a:ea typeface="맑은 고딕"/>
            </a:endParaRPr>
          </a:p>
        </p:txBody>
      </p:sp>
      <p:sp>
        <p:nvSpPr>
          <p:cNvPr id="44" name="Text 38"/>
          <p:cNvSpPr/>
          <p:nvPr/>
        </p:nvSpPr>
        <p:spPr>
          <a:xfrm>
            <a:off x="50292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맑은 고딕"/>
                <a:ea typeface="맑은 고딕"/>
              </a:rPr>
              <a:t>🎓 </a:t>
            </a:r>
            <a:r>
              <a:rPr lang="ko-KR" altLang="en-US" sz="1100" b="1">
                <a:solidFill>
                  <a:srgbClr val="1e293b"/>
                </a:solidFill>
                <a:latin typeface="맑은 고딕"/>
              </a:rPr>
              <a:t> </a:t>
            </a:r>
            <a:r>
              <a:rPr lang="en-US" sz="1100" b="1">
                <a:solidFill>
                  <a:srgbClr val="1e293b"/>
                </a:solidFill>
                <a:latin typeface="맑은 고딕"/>
                <a:ea typeface="맑은 고딕"/>
              </a:rPr>
              <a:t>교육용 시뮬레이터</a:t>
            </a:r>
            <a:endParaRPr lang="en-US" sz="1100" b="1">
              <a:solidFill>
                <a:srgbClr val="1e293b"/>
              </a:solidFill>
              <a:latin typeface="맑은 고딕"/>
              <a:ea typeface="맑은 고딕"/>
            </a:endParaRPr>
          </a:p>
        </p:txBody>
      </p:sp>
      <p:sp>
        <p:nvSpPr>
          <p:cNvPr id="45" name="Text 39"/>
          <p:cNvSpPr/>
          <p:nvPr/>
        </p:nvSpPr>
        <p:spPr>
          <a:xfrm>
            <a:off x="502920" y="4507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맑은 고딕"/>
                <a:ea typeface="맑은 고딕"/>
              </a:rPr>
              <a:t>전력계통 수업·연구 실습에서</a:t>
            </a:r>
            <a:endParaRPr lang="en-US" sz="10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맑은 고딕"/>
                <a:ea typeface="맑은 고딕"/>
              </a:rPr>
              <a:t>송전망 혼잡과 증설 전략 실습</a:t>
            </a:r>
            <a:endParaRPr lang="en-US" sz="1000">
              <a:latin typeface="맑은 고딕"/>
              <a:ea typeface="맑은 고딕"/>
            </a:endParaRPr>
          </a:p>
        </p:txBody>
      </p:sp>
      <p:sp>
        <p:nvSpPr>
          <p:cNvPr id="46" name="Text 40"/>
          <p:cNvSpPr/>
          <p:nvPr/>
        </p:nvSpPr>
        <p:spPr>
          <a:xfrm>
            <a:off x="265176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맑은 고딕"/>
                <a:ea typeface="맑은 고딕"/>
              </a:rPr>
              <a:t>🔍 </a:t>
            </a:r>
            <a:r>
              <a:rPr lang="ko-KR" altLang="en-US" sz="1100" b="1">
                <a:solidFill>
                  <a:srgbClr val="1e293b"/>
                </a:solidFill>
                <a:latin typeface="맑은 고딕"/>
              </a:rPr>
              <a:t> </a:t>
            </a:r>
            <a:r>
              <a:rPr lang="en-US" sz="1100" b="1">
                <a:solidFill>
                  <a:srgbClr val="1e293b"/>
                </a:solidFill>
                <a:latin typeface="맑은 고딕"/>
                <a:ea typeface="맑은 고딕"/>
              </a:rPr>
              <a:t>예비 검토 도구</a:t>
            </a:r>
            <a:endParaRPr lang="en-US" sz="1100" b="1">
              <a:solidFill>
                <a:srgbClr val="1e293b"/>
              </a:solidFill>
              <a:latin typeface="맑은 고딕"/>
              <a:ea typeface="맑은 고딕"/>
            </a:endParaRPr>
          </a:p>
        </p:txBody>
      </p:sp>
      <p:sp>
        <p:nvSpPr>
          <p:cNvPr id="47" name="Text 41"/>
          <p:cNvSpPr/>
          <p:nvPr/>
        </p:nvSpPr>
        <p:spPr>
          <a:xfrm>
            <a:off x="2651760" y="4507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맑은 고딕"/>
                <a:ea typeface="맑은 고딕"/>
              </a:rPr>
              <a:t>특정 지역 신규 송전탑</a:t>
            </a:r>
            <a:endParaRPr lang="en-US" sz="10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맑은 고딕"/>
                <a:ea typeface="맑은 고딕"/>
              </a:rPr>
              <a:t>설치 후보지 빠른 비교 검토</a:t>
            </a:r>
            <a:endParaRPr lang="en-US" sz="1000">
              <a:latin typeface="맑은 고딕"/>
              <a:ea typeface="맑은 고딕"/>
            </a:endParaRPr>
          </a:p>
        </p:txBody>
      </p:sp>
      <p:sp>
        <p:nvSpPr>
          <p:cNvPr id="48" name="Text 42"/>
          <p:cNvSpPr/>
          <p:nvPr/>
        </p:nvSpPr>
        <p:spPr>
          <a:xfrm>
            <a:off x="480060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맑은 고딕"/>
                <a:ea typeface="맑은 고딕"/>
              </a:rPr>
              <a:t>📊 </a:t>
            </a:r>
            <a:r>
              <a:rPr lang="ko-KR" altLang="en-US" sz="1100" b="1">
                <a:solidFill>
                  <a:srgbClr val="1e293b"/>
                </a:solidFill>
                <a:latin typeface="맑은 고딕"/>
              </a:rPr>
              <a:t> </a:t>
            </a:r>
            <a:r>
              <a:rPr lang="en-US" sz="1100" b="1">
                <a:solidFill>
                  <a:srgbClr val="1e293b"/>
                </a:solidFill>
                <a:latin typeface="맑은 고딕"/>
                <a:ea typeface="맑은 고딕"/>
              </a:rPr>
              <a:t>발표용 프로토타입</a:t>
            </a:r>
            <a:endParaRPr lang="en-US" sz="1100" b="1">
              <a:solidFill>
                <a:srgbClr val="1e293b"/>
              </a:solidFill>
              <a:latin typeface="맑은 고딕"/>
              <a:ea typeface="맑은 고딕"/>
            </a:endParaRPr>
          </a:p>
        </p:txBody>
      </p:sp>
      <p:sp>
        <p:nvSpPr>
          <p:cNvPr id="49" name="Text 43"/>
          <p:cNvSpPr/>
          <p:nvPr/>
        </p:nvSpPr>
        <p:spPr>
          <a:xfrm>
            <a:off x="4800600" y="4507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000">
                <a:solidFill>
                  <a:srgbClr val="64748b"/>
                </a:solidFill>
                <a:latin typeface="맑은 고딕"/>
              </a:rPr>
              <a:t>에너지 컨설팅 스타트업 기업의</a:t>
            </a:r>
            <a:r>
              <a:rPr lang="en-US" sz="1000">
                <a:solidFill>
                  <a:srgbClr val="64748b"/>
                </a:solidFill>
                <a:latin typeface="맑은 고딕"/>
                <a:ea typeface="맑은 고딕"/>
              </a:rPr>
              <a:t> </a:t>
            </a:r>
            <a:endParaRPr lang="en-US" sz="10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맑은 고딕"/>
                <a:ea typeface="맑은 고딕"/>
              </a:rPr>
              <a:t>스마트그리드</a:t>
            </a:r>
            <a:r>
              <a:rPr lang="ko-KR" altLang="en-US" sz="1000">
                <a:solidFill>
                  <a:srgbClr val="64748b"/>
                </a:solidFill>
                <a:latin typeface="맑은 고딕"/>
              </a:rPr>
              <a:t> </a:t>
            </a:r>
            <a:r>
              <a:rPr lang="en-US" sz="1000">
                <a:solidFill>
                  <a:srgbClr val="64748b"/>
                </a:solidFill>
                <a:latin typeface="맑은 고딕"/>
                <a:ea typeface="맑은 고딕"/>
              </a:rPr>
              <a:t>아이디어를 </a:t>
            </a:r>
            <a:endParaRPr lang="en-US" sz="10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맑은 고딕"/>
                <a:ea typeface="맑은 고딕"/>
              </a:rPr>
              <a:t>지도로 시각화</a:t>
            </a:r>
            <a:endParaRPr lang="en-US" sz="1000">
              <a:solidFill>
                <a:srgbClr val="64748b"/>
              </a:solidFill>
              <a:latin typeface="맑은 고딕"/>
              <a:ea typeface="맑은 고딕"/>
            </a:endParaRPr>
          </a:p>
        </p:txBody>
      </p:sp>
      <p:sp>
        <p:nvSpPr>
          <p:cNvPr id="50" name="Text 44"/>
          <p:cNvSpPr/>
          <p:nvPr/>
        </p:nvSpPr>
        <p:spPr>
          <a:xfrm>
            <a:off x="694944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맑은 고딕"/>
                <a:ea typeface="맑은 고딕"/>
              </a:rPr>
              <a:t>🚀 </a:t>
            </a:r>
            <a:r>
              <a:rPr lang="ko-KR" altLang="en-US" sz="1100" b="1">
                <a:solidFill>
                  <a:srgbClr val="1e293b"/>
                </a:solidFill>
                <a:latin typeface="맑은 고딕"/>
              </a:rPr>
              <a:t> </a:t>
            </a:r>
            <a:r>
              <a:rPr lang="en-US" sz="1100" b="1">
                <a:solidFill>
                  <a:srgbClr val="1e293b"/>
                </a:solidFill>
                <a:latin typeface="맑은 고딕"/>
                <a:ea typeface="맑은 고딕"/>
              </a:rPr>
              <a:t>확장 가능</a:t>
            </a:r>
            <a:r>
              <a:rPr lang="ko-KR" altLang="en-US" sz="1100" b="1">
                <a:solidFill>
                  <a:srgbClr val="1e293b"/>
                </a:solidFill>
                <a:latin typeface="맑은 고딕"/>
              </a:rPr>
              <a:t> 여부</a:t>
            </a:r>
            <a:endParaRPr lang="ko-KR" altLang="en-US" sz="1100" b="1">
              <a:solidFill>
                <a:srgbClr val="1e293b"/>
              </a:solidFill>
              <a:latin typeface="맑은 고딕"/>
            </a:endParaRPr>
          </a:p>
        </p:txBody>
      </p:sp>
      <p:sp>
        <p:nvSpPr>
          <p:cNvPr id="51" name="Text 45"/>
          <p:cNvSpPr/>
          <p:nvPr/>
        </p:nvSpPr>
        <p:spPr>
          <a:xfrm>
            <a:off x="6949440" y="4507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000">
                <a:solidFill>
                  <a:srgbClr val="64748b"/>
                </a:solidFill>
                <a:latin typeface="맑은 고딕"/>
              </a:rPr>
              <a:t>전력시장 경제성 분석</a:t>
            </a:r>
            <a:r>
              <a:rPr lang="en-US" altLang="ko-KR" sz="1000">
                <a:solidFill>
                  <a:srgbClr val="64748b"/>
                </a:solidFill>
                <a:latin typeface="맑은 고딕"/>
              </a:rPr>
              <a:t>,</a:t>
            </a:r>
            <a:r>
              <a:rPr lang="ko-KR" altLang="en-US" sz="1000">
                <a:solidFill>
                  <a:srgbClr val="64748b"/>
                </a:solidFill>
                <a:latin typeface="맑은 고딕"/>
              </a:rPr>
              <a:t> 노드 확장</a:t>
            </a:r>
            <a:r>
              <a:rPr lang="en-US" altLang="ko-KR" sz="1000">
                <a:solidFill>
                  <a:srgbClr val="64748b"/>
                </a:solidFill>
                <a:latin typeface="맑은 고딕"/>
              </a:rPr>
              <a:t>,</a:t>
            </a:r>
            <a:r>
              <a:rPr lang="ko-KR" altLang="en-US" sz="1000">
                <a:solidFill>
                  <a:srgbClr val="64748b"/>
                </a:solidFill>
                <a:latin typeface="맑은 고딕"/>
              </a:rPr>
              <a:t> 다지역 시나리오 간단한 비교 가능</a:t>
            </a:r>
            <a:endParaRPr lang="ko-KR" altLang="en-US" sz="1000">
              <a:solidFill>
                <a:srgbClr val="64748b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694</ep:Words>
  <ep:PresentationFormat>On-screen Show (16:9)</ep:PresentationFormat>
  <ep:Paragraphs>358</ep:Paragraphs>
  <ep:Slides>9</ep:Slides>
  <ep:Notes>9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ep:HeadingPairs>
  <ep:TitlesOfParts>
    <vt:vector size="1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2026-04-10T04:41:15.000</dcterms:created>
  <dc:creator>팀 石4</dc:creator>
  <cp:lastModifiedBy>smp05</cp:lastModifiedBy>
  <dcterms:modified xsi:type="dcterms:W3CDTF">2026-04-12T13:41:45.511</dcterms:modified>
  <cp:revision>76</cp:revision>
  <dc:subject>PptxGenJS Presentation</dc:subject>
  <dc:title>SGOP - Smart Grid Optimization Platform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